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65" r:id="rId14"/>
    <p:sldId id="266"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01" autoAdjust="0"/>
  </p:normalViewPr>
  <p:slideViewPr>
    <p:cSldViewPr snapToGrid="0">
      <p:cViewPr varScale="1">
        <p:scale>
          <a:sx n="92" d="100"/>
          <a:sy n="92"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5C43D-E074-4FDA-A95C-EDDB51A23E0A}" type="datetimeFigureOut">
              <a:rPr lang="zh-CN" altLang="en-US" smtClean="0"/>
              <a:t>2026/8/10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9A585B-76CB-46FB-9235-790137315319}" type="slidenum">
              <a:rPr lang="zh-CN" altLang="en-US" smtClean="0"/>
              <a:t>‹#›</a:t>
            </a:fld>
            <a:endParaRPr lang="zh-CN" altLang="en-US"/>
          </a:p>
        </p:txBody>
      </p:sp>
    </p:spTree>
    <p:extLst>
      <p:ext uri="{BB962C8B-B14F-4D97-AF65-F5344CB8AC3E}">
        <p14:creationId xmlns:p14="http://schemas.microsoft.com/office/powerpoint/2010/main" val="43816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虽然早就对虚拟细胞产生向往。但我是这个暑假才开始接触虚拟细胞建模，对于几乎零基础的我，做出来的东西不免简陋，还请大家多多包涵。希望能够向大家多学习，快速进步。（可不说，后面再补充）</a:t>
            </a:r>
          </a:p>
        </p:txBody>
      </p:sp>
      <p:sp>
        <p:nvSpPr>
          <p:cNvPr id="4" name="灯片编号占位符 3"/>
          <p:cNvSpPr>
            <a:spLocks noGrp="1"/>
          </p:cNvSpPr>
          <p:nvPr>
            <p:ph type="sldNum" sz="quarter" idx="5"/>
          </p:nvPr>
        </p:nvSpPr>
        <p:spPr/>
        <p:txBody>
          <a:bodyPr/>
          <a:lstStyle/>
          <a:p>
            <a:fld id="{5F9A585B-76CB-46FB-9235-790137315319}" type="slidenum">
              <a:rPr lang="zh-CN" altLang="en-US" smtClean="0"/>
              <a:t>1</a:t>
            </a:fld>
            <a:endParaRPr lang="zh-CN" altLang="en-US"/>
          </a:p>
        </p:txBody>
      </p:sp>
    </p:spTree>
    <p:extLst>
      <p:ext uri="{BB962C8B-B14F-4D97-AF65-F5344CB8AC3E}">
        <p14:creationId xmlns:p14="http://schemas.microsoft.com/office/powerpoint/2010/main" val="678204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F9A585B-76CB-46FB-9235-790137315319}" type="slidenum">
              <a:rPr lang="zh-CN" altLang="en-US" smtClean="0"/>
              <a:t>2</a:t>
            </a:fld>
            <a:endParaRPr lang="zh-CN" altLang="en-US"/>
          </a:p>
        </p:txBody>
      </p:sp>
    </p:spTree>
    <p:extLst>
      <p:ext uri="{BB962C8B-B14F-4D97-AF65-F5344CB8AC3E}">
        <p14:creationId xmlns:p14="http://schemas.microsoft.com/office/powerpoint/2010/main" val="1501351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条件嵌入前的</a:t>
            </a:r>
            <a:r>
              <a:rPr lang="en-US" altLang="zh-CN" dirty="0"/>
              <a:t>Condition encoder</a:t>
            </a:r>
            <a:r>
              <a:rPr lang="zh-CN" altLang="en-US" dirty="0"/>
              <a:t>是干啥的</a:t>
            </a:r>
          </a:p>
        </p:txBody>
      </p:sp>
      <p:sp>
        <p:nvSpPr>
          <p:cNvPr id="4" name="灯片编号占位符 3"/>
          <p:cNvSpPr>
            <a:spLocks noGrp="1"/>
          </p:cNvSpPr>
          <p:nvPr>
            <p:ph type="sldNum" sz="quarter" idx="5"/>
          </p:nvPr>
        </p:nvSpPr>
        <p:spPr/>
        <p:txBody>
          <a:bodyPr/>
          <a:lstStyle/>
          <a:p>
            <a:fld id="{5F9A585B-76CB-46FB-9235-790137315319}" type="slidenum">
              <a:rPr lang="zh-CN" altLang="en-US" smtClean="0"/>
              <a:t>3</a:t>
            </a:fld>
            <a:endParaRPr lang="zh-CN" altLang="en-US"/>
          </a:p>
        </p:txBody>
      </p:sp>
    </p:spTree>
    <p:extLst>
      <p:ext uri="{BB962C8B-B14F-4D97-AF65-F5344CB8AC3E}">
        <p14:creationId xmlns:p14="http://schemas.microsoft.com/office/powerpoint/2010/main" val="1371545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从</a:t>
            </a:r>
            <a:r>
              <a:rPr lang="en-US" altLang="zh-CN" dirty="0"/>
              <a:t>15</a:t>
            </a:r>
            <a:r>
              <a:rPr lang="zh-CN" altLang="en-US" dirty="0"/>
              <a:t>列条件信息中提取出</a:t>
            </a:r>
            <a:r>
              <a:rPr lang="en-US" altLang="zh-CN" dirty="0"/>
              <a:t>5</a:t>
            </a:r>
            <a:r>
              <a:rPr lang="zh-CN" altLang="en-US" dirty="0"/>
              <a:t>个条件维度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菌株（</a:t>
            </a:r>
            <a:r>
              <a:rPr lang="en-US" altLang="zh-CN" dirty="0"/>
              <a:t>5:4+1</a:t>
            </a:r>
            <a:r>
              <a:rPr lang="zh-CN" altLang="en-US" dirty="0"/>
              <a:t>），药物（</a:t>
            </a:r>
            <a:r>
              <a:rPr lang="en-US" altLang="zh-CN" dirty="0"/>
              <a:t>46:40+6</a:t>
            </a:r>
            <a:r>
              <a:rPr lang="zh-CN" altLang="en-US" dirty="0"/>
              <a:t>），温度（</a:t>
            </a:r>
            <a:r>
              <a:rPr lang="en-US" altLang="zh-CN" dirty="0"/>
              <a:t>2</a:t>
            </a:r>
            <a:r>
              <a:rPr lang="zh-CN" altLang="en-US" dirty="0"/>
              <a:t>），培养基（</a:t>
            </a:r>
            <a:r>
              <a:rPr lang="en-US" altLang="zh-CN" dirty="0"/>
              <a:t>2</a:t>
            </a:r>
            <a:r>
              <a:rPr lang="zh-CN" altLang="en-US" dirty="0"/>
              <a:t>），时间（</a:t>
            </a:r>
            <a:r>
              <a:rPr lang="en-US" altLang="zh-CN" dirty="0"/>
              <a:t>6</a:t>
            </a:r>
            <a:r>
              <a:rPr lang="zh-CN" altLang="en-US" dirty="0"/>
              <a:t>，</a:t>
            </a:r>
            <a:r>
              <a:rPr lang="zh-CN" altLang="zh-CN" dirty="0"/>
              <a:t>15min~240min</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en-US" altLang="zh-CN" dirty="0"/>
              <a:t>2.</a:t>
            </a:r>
            <a:r>
              <a:rPr lang="zh-CN" altLang="en-US" dirty="0"/>
              <a:t>七种特征编码器输出</a:t>
            </a:r>
            <a:r>
              <a:rPr lang="en-US" altLang="zh-CN" dirty="0"/>
              <a:t>400-500</a:t>
            </a:r>
            <a:r>
              <a:rPr lang="zh-CN" altLang="en-US" dirty="0"/>
              <a:t>维向量，最后通过标准化和</a:t>
            </a:r>
            <a:r>
              <a:rPr lang="en-US" altLang="zh-CN" dirty="0"/>
              <a:t>PCA</a:t>
            </a:r>
            <a:r>
              <a:rPr lang="zh-CN" altLang="en-US" dirty="0"/>
              <a:t>（</a:t>
            </a:r>
            <a:r>
              <a:rPr lang="en-US" altLang="zh-CN" dirty="0"/>
              <a:t>SVD</a:t>
            </a:r>
            <a:r>
              <a:rPr lang="zh-CN" altLang="en-US" dirty="0"/>
              <a:t>）降维固定为</a:t>
            </a:r>
            <a:r>
              <a:rPr lang="en-US" altLang="zh-CN" dirty="0"/>
              <a:t>256</a:t>
            </a:r>
            <a:r>
              <a:rPr lang="zh-CN" altLang="en-US" dirty="0"/>
              <a:t>维输出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2.1 </a:t>
            </a:r>
            <a:r>
              <a:rPr lang="en-US" altLang="zh-CN" dirty="0" err="1"/>
              <a:t>StrainPrior</a:t>
            </a:r>
            <a:r>
              <a:rPr lang="zh-CN" altLang="en-US" dirty="0"/>
              <a:t>编码器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4</a:t>
            </a:r>
            <a:r>
              <a:rPr lang="zh-CN" altLang="zh-CN" sz="1200" b="0" i="0" kern="1200" dirty="0">
                <a:solidFill>
                  <a:schemeClr val="tx1"/>
                </a:solidFill>
                <a:effectLst/>
                <a:latin typeface="+mn-lt"/>
                <a:ea typeface="+mn-ea"/>
                <a:cs typeface="+mn-cs"/>
              </a:rPr>
              <a:t>个菌株</a:t>
            </a:r>
            <a:r>
              <a:rPr lang="zh-CN" altLang="en-US" sz="1200" b="0" i="0" kern="1200" dirty="0">
                <a:solidFill>
                  <a:schemeClr val="tx1"/>
                </a:solidFill>
                <a:effectLst/>
                <a:latin typeface="+mn-lt"/>
                <a:ea typeface="+mn-ea"/>
                <a:cs typeface="+mn-cs"/>
              </a:rPr>
              <a:t>分别</a:t>
            </a:r>
            <a:r>
              <a:rPr lang="zh-CN" altLang="zh-CN" sz="1200" b="0" i="0" kern="1200" dirty="0">
                <a:solidFill>
                  <a:schemeClr val="tx1"/>
                </a:solidFill>
                <a:effectLst/>
                <a:latin typeface="+mn-lt"/>
                <a:ea typeface="+mn-ea"/>
                <a:cs typeface="+mn-cs"/>
              </a:rPr>
              <a:t>计算其在训练集中所有样本的</a:t>
            </a:r>
            <a:r>
              <a:rPr lang="zh-CN" altLang="zh-CN" sz="1200" b="1" i="0" kern="1200" dirty="0">
                <a:solidFill>
                  <a:schemeClr val="tx1"/>
                </a:solidFill>
                <a:effectLst/>
                <a:latin typeface="+mn-lt"/>
                <a:ea typeface="+mn-ea"/>
                <a:cs typeface="+mn-cs"/>
              </a:rPr>
              <a:t>蛋白均值向量</a:t>
            </a:r>
            <a:r>
              <a:rPr lang="zh-CN" altLang="zh-CN" sz="1200" b="0" i="0" kern="1200" dirty="0">
                <a:solidFill>
                  <a:schemeClr val="tx1"/>
                </a:solidFill>
                <a:effectLst/>
                <a:latin typeface="+mn-lt"/>
                <a:ea typeface="+mn-ea"/>
                <a:cs typeface="+mn-cs"/>
              </a:rPr>
              <a:t>（4232 维），然后用 PCA 降维到 32 维。</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2.2 </a:t>
            </a:r>
            <a:r>
              <a:rPr lang="en-US" altLang="zh-CN" sz="1200" b="0" i="0" kern="1200" dirty="0" err="1">
                <a:solidFill>
                  <a:schemeClr val="tx1"/>
                </a:solidFill>
                <a:effectLst/>
                <a:latin typeface="+mn-lt"/>
                <a:ea typeface="+mn-ea"/>
                <a:cs typeface="+mn-cs"/>
              </a:rPr>
              <a:t>ChemicalAnchor</a:t>
            </a:r>
            <a:r>
              <a:rPr lang="zh-CN" altLang="en-US" sz="1200" b="0" i="0" kern="1200" dirty="0">
                <a:solidFill>
                  <a:schemeClr val="tx1"/>
                </a:solidFill>
                <a:effectLst/>
                <a:latin typeface="+mn-lt"/>
                <a:ea typeface="+mn-ea"/>
                <a:cs typeface="+mn-cs"/>
              </a:rPr>
              <a:t>编码器</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对非对照样本，计算其与匹配对照的蛋白量</a:t>
            </a:r>
            <a:r>
              <a:rPr lang="en-US" altLang="zh-CN" sz="1200" b="0" i="0" kern="1200" dirty="0">
                <a:solidFill>
                  <a:schemeClr val="tx1"/>
                </a:solidFill>
                <a:effectLst/>
                <a:latin typeface="+mn-lt"/>
                <a:ea typeface="+mn-ea"/>
                <a:cs typeface="+mn-cs"/>
              </a:rPr>
              <a:t>Δ</a:t>
            </a:r>
            <a:r>
              <a:rPr lang="zh-CN" altLang="en-US" sz="1200" b="0" i="0" kern="1200" dirty="0">
                <a:solidFill>
                  <a:schemeClr val="tx1"/>
                </a:solidFill>
                <a:effectLst/>
                <a:latin typeface="+mn-lt"/>
                <a:ea typeface="+mn-ea"/>
                <a:cs typeface="+mn-cs"/>
              </a:rPr>
              <a:t>向量（</a:t>
            </a:r>
            <a:r>
              <a:rPr lang="en-US" altLang="zh-CN" sz="1200" b="0" i="0" kern="1200" dirty="0">
                <a:solidFill>
                  <a:schemeClr val="tx1"/>
                </a:solidFill>
                <a:effectLst/>
                <a:latin typeface="+mn-lt"/>
                <a:ea typeface="+mn-ea"/>
                <a:cs typeface="+mn-cs"/>
              </a:rPr>
              <a:t>4232</a:t>
            </a:r>
            <a:r>
              <a:rPr lang="zh-CN" altLang="en-US" sz="1200" b="0" i="0" kern="1200" dirty="0">
                <a:solidFill>
                  <a:schemeClr val="tx1"/>
                </a:solidFill>
                <a:effectLst/>
                <a:latin typeface="+mn-lt"/>
                <a:ea typeface="+mn-ea"/>
                <a:cs typeface="+mn-cs"/>
              </a:rPr>
              <a:t>维），再通过</a:t>
            </a:r>
            <a:r>
              <a:rPr lang="en-US" altLang="zh-CN" sz="1200" b="0" i="0" kern="1200" dirty="0">
                <a:solidFill>
                  <a:schemeClr val="tx1"/>
                </a:solidFill>
                <a:effectLst/>
                <a:latin typeface="+mn-lt"/>
                <a:ea typeface="+mn-ea"/>
                <a:cs typeface="+mn-cs"/>
              </a:rPr>
              <a:t>PCA</a:t>
            </a:r>
            <a:r>
              <a:rPr lang="zh-CN" altLang="en-US" sz="1200" b="0" i="0" kern="1200" dirty="0">
                <a:solidFill>
                  <a:schemeClr val="tx1"/>
                </a:solidFill>
                <a:effectLst/>
                <a:latin typeface="+mn-lt"/>
                <a:ea typeface="+mn-ea"/>
                <a:cs typeface="+mn-cs"/>
              </a:rPr>
              <a:t>降维至</a:t>
            </a:r>
            <a:r>
              <a:rPr lang="en-US" altLang="zh-CN" sz="1200" b="0" i="0" kern="1200" dirty="0">
                <a:solidFill>
                  <a:schemeClr val="tx1"/>
                </a:solidFill>
                <a:effectLst/>
                <a:latin typeface="+mn-lt"/>
                <a:ea typeface="+mn-ea"/>
                <a:cs typeface="+mn-cs"/>
              </a:rPr>
              <a:t>64</a:t>
            </a:r>
            <a:r>
              <a:rPr lang="zh-CN" altLang="en-US" sz="1200" b="0" i="0" kern="1200" dirty="0">
                <a:solidFill>
                  <a:schemeClr val="tx1"/>
                </a:solidFill>
                <a:effectLst/>
                <a:latin typeface="+mn-lt"/>
                <a:ea typeface="+mn-ea"/>
                <a:cs typeface="+mn-cs"/>
              </a:rPr>
              <a:t>维，作为该药物在该批次的特征向量。</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岂不同一个药物会有不同向量</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kern="1200" dirty="0">
                <a:solidFill>
                  <a:schemeClr val="tx1"/>
                </a:solidFill>
                <a:effectLst/>
                <a:latin typeface="+mn-lt"/>
                <a:ea typeface="+mn-ea"/>
                <a:cs typeface="+mn-cs"/>
              </a:rPr>
              <a:t>同一批次（相同数据源、仪器、细胞板、菌株、培养基、温度、时间）的 DMSO/Water 样本作为该批次药物的</a:t>
            </a:r>
            <a:r>
              <a:rPr lang="zh-CN" altLang="zh-CN" sz="1200" b="1" i="0" kern="1200" dirty="0">
                <a:solidFill>
                  <a:schemeClr val="tx1"/>
                </a:solidFill>
                <a:effectLst/>
                <a:latin typeface="+mn-lt"/>
                <a:ea typeface="+mn-ea"/>
                <a:cs typeface="+mn-cs"/>
              </a:rPr>
              <a:t>匹配对照</a:t>
            </a:r>
            <a:r>
              <a:rPr lang="zh-CN" altLang="zh-CN"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?anchor</a:t>
            </a:r>
            <a:r>
              <a:rPr lang="zh-CN" altLang="en-US" sz="1200" b="0" i="0" kern="1200" dirty="0">
                <a:solidFill>
                  <a:schemeClr val="tx1"/>
                </a:solidFill>
                <a:effectLst/>
                <a:latin typeface="+mn-lt"/>
                <a:ea typeface="+mn-ea"/>
                <a:cs typeface="+mn-cs"/>
              </a:rPr>
              <a:t>体现在哪里</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2.3 </a:t>
            </a:r>
            <a:r>
              <a:rPr lang="en-US" altLang="zh-CN" sz="1200" b="0" i="0" kern="1200" dirty="0" err="1">
                <a:solidFill>
                  <a:schemeClr val="tx1"/>
                </a:solidFill>
                <a:effectLst/>
                <a:latin typeface="+mn-lt"/>
                <a:ea typeface="+mn-ea"/>
                <a:cs typeface="+mn-cs"/>
              </a:rPr>
              <a:t>HashEncoder</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？为什么只编码药物和细胞板，验证集里只有药物和菌株需要外推呀。</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2.4 </a:t>
            </a:r>
            <a:r>
              <a:rPr lang="en-US" altLang="zh-CN" sz="1200" b="0" i="0" kern="1200" dirty="0" err="1">
                <a:solidFill>
                  <a:schemeClr val="tx1"/>
                </a:solidFill>
                <a:effectLst/>
                <a:latin typeface="+mn-lt"/>
                <a:ea typeface="+mn-ea"/>
                <a:cs typeface="+mn-cs"/>
              </a:rPr>
              <a:t>CrossFeatureEncoder</a:t>
            </a:r>
            <a:r>
              <a:rPr lang="zh-CN" altLang="en-US" sz="1200" b="0" i="0" kern="1200" dirty="0">
                <a:solidFill>
                  <a:schemeClr val="tx1"/>
                </a:solidFill>
                <a:effectLst/>
                <a:latin typeface="+mn-lt"/>
                <a:ea typeface="+mn-ea"/>
                <a:cs typeface="+mn-cs"/>
              </a:rPr>
              <a:t>交互特征编码</a:t>
            </a:r>
            <a:endParaRPr lang="en-US" altLang="zh-CN" sz="1200" b="0" i="0" kern="1200" dirty="0">
              <a:solidFill>
                <a:schemeClr val="tx1"/>
              </a:solidFill>
              <a:effectLst/>
              <a:latin typeface="+mn-lt"/>
              <a:ea typeface="+mn-ea"/>
              <a:cs typeface="+mn-cs"/>
            </a:endParaRPr>
          </a:p>
          <a:p>
            <a:pPr lvl="0"/>
            <a:r>
              <a:rPr lang="zh-CN" altLang="en-US" sz="1200" b="0" i="0" kern="1200" dirty="0">
                <a:solidFill>
                  <a:schemeClr val="tx1"/>
                </a:solidFill>
                <a:effectLst/>
                <a:latin typeface="+mn-lt"/>
                <a:ea typeface="+mn-ea"/>
                <a:cs typeface="+mn-cs"/>
              </a:rPr>
              <a:t>选择生物学上最有意义的两组交互</a:t>
            </a:r>
            <a:r>
              <a:rPr lang="zh-CN" altLang="zh-CN" sz="1200" b="0" i="0" kern="1200" dirty="0">
                <a:solidFill>
                  <a:schemeClr val="tx1"/>
                </a:solidFill>
                <a:effectLst/>
                <a:latin typeface="+mn-lt"/>
                <a:ea typeface="+mn-ea"/>
                <a:cs typeface="+mn-cs"/>
              </a:rPr>
              <a:t>strain × medium（10 维）：菌株在特定培养基中的表现</a:t>
            </a: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chemical × temperature（92 维）：药物在特定温度下的效应（化学-温度交互较复杂，分配更多桶）</a:t>
            </a:r>
            <a:r>
              <a:rPr lang="zh-CN" altLang="en-US" sz="1200" b="0" i="0" kern="1200" dirty="0">
                <a:solidFill>
                  <a:schemeClr val="tx1"/>
                </a:solidFill>
                <a:effectLst/>
                <a:latin typeface="+mn-lt"/>
                <a:ea typeface="+mn-ea"/>
                <a:cs typeface="+mn-cs"/>
              </a:rPr>
              <a:t>，捕获这两组各维度间的交互效应。</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2.5</a:t>
            </a:r>
            <a:r>
              <a:rPr lang="zh-CN" altLang="zh-CN" sz="1200" b="0" i="0" kern="1200" dirty="0">
                <a:solidFill>
                  <a:schemeClr val="tx1"/>
                </a:solidFill>
                <a:effectLst/>
                <a:latin typeface="+mn-lt"/>
                <a:ea typeface="+mn-ea"/>
                <a:cs typeface="+mn-cs"/>
              </a:rPr>
              <a:t>One-hot 编码 — 类别特征</a:t>
            </a:r>
          </a:p>
          <a:p>
            <a:pPr lvl="0"/>
            <a:r>
              <a:rPr lang="zh-CN" altLang="en-US" sz="1200" b="0" i="0" kern="1200" dirty="0">
                <a:solidFill>
                  <a:schemeClr val="tx1"/>
                </a:solidFill>
                <a:effectLst/>
                <a:latin typeface="+mn-lt"/>
                <a:ea typeface="+mn-ea"/>
                <a:cs typeface="+mn-cs"/>
              </a:rPr>
              <a:t>仅对菌株，药物，培养基和仪器进行标准类别特征编码，但是对于未见实体采取全零编码。？这个编码只对已见实体有用，有什么意义？</a:t>
            </a:r>
            <a:endParaRPr lang="en-US" altLang="zh-CN" sz="1200" b="0" i="0" kern="1200" dirty="0">
              <a:solidFill>
                <a:schemeClr val="tx1"/>
              </a:solidFill>
              <a:effectLst/>
              <a:latin typeface="+mn-lt"/>
              <a:ea typeface="+mn-ea"/>
              <a:cs typeface="+mn-cs"/>
            </a:endParaRPr>
          </a:p>
          <a:p>
            <a:pPr lvl="0"/>
            <a:r>
              <a:rPr lang="en-US" altLang="zh-CN" sz="1200" b="0" i="0" kern="1200" dirty="0">
                <a:solidFill>
                  <a:schemeClr val="tx1"/>
                </a:solidFill>
                <a:effectLst/>
                <a:latin typeface="+mn-lt"/>
                <a:ea typeface="+mn-ea"/>
                <a:cs typeface="+mn-cs"/>
              </a:rPr>
              <a:t>2.6</a:t>
            </a:r>
            <a:r>
              <a:rPr lang="zh-CN" altLang="en-US" sz="1200" b="0" i="0" kern="1200" dirty="0">
                <a:solidFill>
                  <a:schemeClr val="tx1"/>
                </a:solidFill>
                <a:effectLst/>
                <a:latin typeface="+mn-lt"/>
                <a:ea typeface="+mn-ea"/>
                <a:cs typeface="+mn-cs"/>
              </a:rPr>
              <a:t>温度特征编码</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二值特征，是否为</a:t>
            </a:r>
            <a:r>
              <a:rPr lang="en-US" altLang="zh-CN" sz="1200" b="0" i="0" kern="1200" dirty="0">
                <a:solidFill>
                  <a:schemeClr val="tx1"/>
                </a:solidFill>
                <a:effectLst/>
                <a:latin typeface="+mn-lt"/>
                <a:ea typeface="+mn-ea"/>
                <a:cs typeface="+mn-cs"/>
              </a:rPr>
              <a:t>37</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pPr lvl="0"/>
            <a:r>
              <a:rPr lang="en-US" altLang="zh-CN" sz="1200" b="0" i="0" kern="1200" dirty="0">
                <a:solidFill>
                  <a:schemeClr val="tx1"/>
                </a:solidFill>
                <a:effectLst/>
                <a:latin typeface="+mn-lt"/>
                <a:ea typeface="+mn-ea"/>
                <a:cs typeface="+mn-cs"/>
              </a:rPr>
              <a:t>2.7</a:t>
            </a:r>
            <a:r>
              <a:rPr lang="zh-CN" altLang="en-US" sz="1200" b="0" i="0" kern="1200" dirty="0">
                <a:solidFill>
                  <a:schemeClr val="tx1"/>
                </a:solidFill>
                <a:effectLst/>
                <a:latin typeface="+mn-lt"/>
                <a:ea typeface="+mn-ea"/>
                <a:cs typeface="+mn-cs"/>
              </a:rPr>
              <a:t>时间特征编码</a:t>
            </a:r>
            <a:endParaRPr lang="en-US" altLang="zh-CN" sz="1200" b="0" i="0" kern="1200" dirty="0">
              <a:solidFill>
                <a:schemeClr val="tx1"/>
              </a:solidFill>
              <a:effectLst/>
              <a:latin typeface="+mn-lt"/>
              <a:ea typeface="+mn-ea"/>
              <a:cs typeface="+mn-cs"/>
            </a:endParaRPr>
          </a:p>
          <a:p>
            <a:r>
              <a:rPr lang="zh-CN" altLang="zh-CN" sz="1200" b="0" i="0" kern="1200" dirty="0">
                <a:solidFill>
                  <a:schemeClr val="tx1"/>
                </a:solidFill>
                <a:effectLst/>
                <a:latin typeface="+mn-lt"/>
                <a:ea typeface="+mn-ea"/>
                <a:cs typeface="+mn-cs"/>
              </a:rPr>
              <a:t>用 sin/cos 编码时间点，周期 240 分钟</a:t>
            </a: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angle = 2π × time / 240</a:t>
            </a: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[sin(angle), cos(angle)] </a:t>
            </a: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2 维</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sin/cos 保证了 t=0 和 t=240 在特征空间中的距离为 0</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消融实验</a:t>
            </a:r>
            <a:endParaRPr lang="zh-CN" altLang="zh-CN" sz="1200" b="0" i="0" kern="1200" dirty="0">
              <a:solidFill>
                <a:schemeClr val="tx1"/>
              </a:solidFill>
              <a:effectLst/>
              <a:latin typeface="+mn-lt"/>
              <a:ea typeface="+mn-ea"/>
              <a:cs typeface="+mn-cs"/>
            </a:endParaRPr>
          </a:p>
          <a:p>
            <a:endParaRPr lang="zh-CN" altLang="zh-CN" sz="1200" b="0" i="0" kern="1200" dirty="0">
              <a:solidFill>
                <a:schemeClr val="tx1"/>
              </a:solidFill>
              <a:effectLst/>
              <a:latin typeface="+mn-lt"/>
              <a:ea typeface="+mn-ea"/>
              <a:cs typeface="+mn-cs"/>
            </a:endParaRPr>
          </a:p>
          <a:p>
            <a:pPr lvl="0"/>
            <a:endParaRPr lang="zh-CN"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5F9A585B-76CB-46FB-9235-790137315319}" type="slidenum">
              <a:rPr lang="zh-CN" altLang="en-US" smtClean="0"/>
              <a:t>4</a:t>
            </a:fld>
            <a:endParaRPr lang="zh-CN" altLang="en-US"/>
          </a:p>
        </p:txBody>
      </p:sp>
    </p:spTree>
    <p:extLst>
      <p:ext uri="{BB962C8B-B14F-4D97-AF65-F5344CB8AC3E}">
        <p14:creationId xmlns:p14="http://schemas.microsoft.com/office/powerpoint/2010/main" val="2289604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分量介绍</a:t>
            </a:r>
            <a:endParaRPr lang="en-US" altLang="zh-CN" dirty="0"/>
          </a:p>
          <a:p>
            <a:r>
              <a:rPr lang="en-US" altLang="zh-CN" dirty="0"/>
              <a:t>1.1baseline </a:t>
            </a:r>
            <a:r>
              <a:rPr lang="zh-CN" altLang="en-US" dirty="0"/>
              <a:t>共享基线响应 ？为什么，是否有必要</a:t>
            </a:r>
            <a:endParaRPr lang="en-US" altLang="zh-CN" dirty="0"/>
          </a:p>
          <a:p>
            <a:r>
              <a:rPr lang="en-US" altLang="zh-CN" dirty="0"/>
              <a:t>1.2drug</a:t>
            </a:r>
          </a:p>
          <a:p>
            <a:r>
              <a:rPr lang="en-US" altLang="zh-CN" dirty="0"/>
              <a:t>1.3strain ?</a:t>
            </a:r>
            <a:r>
              <a:rPr lang="zh-CN" altLang="en-US" dirty="0"/>
              <a:t>越远缘差异越大？远缘与差异的映射关系需要进化树体现吗？</a:t>
            </a:r>
            <a:endParaRPr lang="en-US" altLang="zh-CN" dirty="0"/>
          </a:p>
          <a:p>
            <a:r>
              <a:rPr lang="en-US" altLang="zh-CN" dirty="0"/>
              <a:t>1.4context </a:t>
            </a:r>
            <a:r>
              <a:rPr lang="zh-CN" altLang="en-US" dirty="0"/>
              <a:t>温度，时间，培养基的交互影响</a:t>
            </a:r>
            <a:endParaRPr lang="en-US" altLang="zh-CN" dirty="0"/>
          </a:p>
          <a:p>
            <a:r>
              <a:rPr lang="zh-CN" altLang="en-US" dirty="0"/>
              <a:t>四个残差头共享训练结构，各自学习不同的权重</a:t>
            </a:r>
            <a:endParaRPr lang="en-US" altLang="zh-CN" dirty="0"/>
          </a:p>
          <a:p>
            <a:endParaRPr lang="en-US" altLang="zh-CN" dirty="0"/>
          </a:p>
          <a:p>
            <a:r>
              <a:rPr lang="en-US" altLang="zh-CN" dirty="0"/>
              <a:t>2.</a:t>
            </a:r>
            <a:r>
              <a:rPr lang="zh-CN" altLang="en-US" dirty="0"/>
              <a:t>意义</a:t>
            </a:r>
            <a:endParaRPr lang="en-US" altLang="zh-CN" dirty="0"/>
          </a:p>
          <a:p>
            <a:r>
              <a:rPr lang="en-US" altLang="zh-CN" dirty="0"/>
              <a:t>2.1</a:t>
            </a:r>
            <a:r>
              <a:rPr lang="zh-CN" altLang="en-US" dirty="0"/>
              <a:t>相比于</a:t>
            </a:r>
            <a:r>
              <a:rPr lang="en-US" altLang="zh-CN" dirty="0"/>
              <a:t>MLP</a:t>
            </a:r>
            <a:r>
              <a:rPr lang="zh-CN" altLang="en-US" dirty="0"/>
              <a:t>端到端更能得出有意义的生物学解释；</a:t>
            </a:r>
            <a:endParaRPr lang="en-US" altLang="zh-CN" dirty="0"/>
          </a:p>
          <a:p>
            <a:r>
              <a:rPr lang="zh-CN" altLang="en-US" dirty="0"/>
              <a:t>？在</a:t>
            </a:r>
            <a:r>
              <a:rPr lang="en-US" altLang="zh-CN" dirty="0"/>
              <a:t>loss</a:t>
            </a:r>
            <a:r>
              <a:rPr lang="zh-CN" altLang="en-US" dirty="0"/>
              <a:t>和</a:t>
            </a:r>
            <a:r>
              <a:rPr lang="en-US" altLang="zh-CN" dirty="0"/>
              <a:t>train</a:t>
            </a:r>
            <a:r>
              <a:rPr lang="zh-CN" altLang="en-US" dirty="0"/>
              <a:t>中</a:t>
            </a:r>
            <a:r>
              <a:rPr lang="en-US" altLang="zh-CN" dirty="0"/>
              <a:t>L2</a:t>
            </a:r>
            <a:r>
              <a:rPr lang="zh-CN" altLang="en-US" dirty="0"/>
              <a:t>正则与稀疏化正则</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2.2</a:t>
            </a:r>
            <a:r>
              <a:rPr lang="zh-CN" altLang="en-US" dirty="0"/>
              <a:t>给模型提供正确的假设空间；</a:t>
            </a:r>
            <a:endParaRPr lang="en-US" altLang="zh-CN" dirty="0"/>
          </a:p>
          <a:p>
            <a:r>
              <a:rPr lang="en-US" altLang="zh-CN" dirty="0"/>
              <a:t>2.3fold change</a:t>
            </a:r>
            <a:r>
              <a:rPr lang="zh-CN" altLang="en-US" dirty="0"/>
              <a:t>的意义是啥</a:t>
            </a:r>
            <a:endParaRPr lang="en-US" altLang="zh-CN" dirty="0"/>
          </a:p>
          <a:p>
            <a:r>
              <a:rPr lang="en-US" altLang="zh-CN" dirty="0"/>
              <a:t>3.</a:t>
            </a:r>
            <a:r>
              <a:rPr lang="zh-CN" altLang="en-US" dirty="0"/>
              <a:t>消融实验：参数量与残差分解解码器一样，但没有分解项</a:t>
            </a:r>
            <a:endParaRPr lang="en-US" altLang="zh-CN" dirty="0"/>
          </a:p>
        </p:txBody>
      </p:sp>
      <p:sp>
        <p:nvSpPr>
          <p:cNvPr id="4" name="灯片编号占位符 3"/>
          <p:cNvSpPr>
            <a:spLocks noGrp="1"/>
          </p:cNvSpPr>
          <p:nvPr>
            <p:ph type="sldNum" sz="quarter" idx="5"/>
          </p:nvPr>
        </p:nvSpPr>
        <p:spPr/>
        <p:txBody>
          <a:bodyPr/>
          <a:lstStyle/>
          <a:p>
            <a:fld id="{5F9A585B-76CB-46FB-9235-790137315319}" type="slidenum">
              <a:rPr lang="zh-CN" altLang="en-US" smtClean="0"/>
              <a:t>5</a:t>
            </a:fld>
            <a:endParaRPr lang="zh-CN" altLang="en-US"/>
          </a:p>
        </p:txBody>
      </p:sp>
    </p:spTree>
    <p:extLst>
      <p:ext uri="{BB962C8B-B14F-4D97-AF65-F5344CB8AC3E}">
        <p14:creationId xmlns:p14="http://schemas.microsoft.com/office/powerpoint/2010/main" val="2394823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是一个独立于主残差分解解码器的专门捕捉系统性加性便宜的批次校准分支。</a:t>
            </a:r>
            <a:endParaRPr lang="en-US" altLang="zh-CN" dirty="0"/>
          </a:p>
          <a:p>
            <a:r>
              <a:rPr lang="zh-CN" altLang="en-US" dirty="0"/>
              <a:t>特点：</a:t>
            </a:r>
            <a:endParaRPr lang="en-US" altLang="zh-CN" dirty="0"/>
          </a:p>
          <a:p>
            <a:r>
              <a:rPr lang="en-US" altLang="zh-CN" dirty="0"/>
              <a:t>2.</a:t>
            </a:r>
            <a:r>
              <a:rPr lang="zh-CN" altLang="en-US" dirty="0"/>
              <a:t>独立于残差头：</a:t>
            </a:r>
            <a:r>
              <a:rPr lang="zh-CN" altLang="zh-CN" sz="1200" b="0" i="0" kern="1200" dirty="0">
                <a:solidFill>
                  <a:schemeClr val="tx1"/>
                </a:solidFill>
                <a:effectLst/>
                <a:latin typeface="+mn-lt"/>
                <a:ea typeface="+mn-ea"/>
                <a:cs typeface="+mn-cs"/>
              </a:rPr>
              <a:t>我们不想让残差头去“修正”这种偏差——残差头应该只捕捉对应生物因素的结构化信号。</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Why</a:t>
            </a:r>
          </a:p>
          <a:p>
            <a:r>
              <a:rPr lang="en-US" altLang="zh-CN" sz="1200" b="0" i="0" kern="1200" dirty="0">
                <a:solidFill>
                  <a:schemeClr val="tx1"/>
                </a:solidFill>
                <a:effectLst/>
                <a:latin typeface="+mn-lt"/>
                <a:ea typeface="+mn-ea"/>
                <a:cs typeface="+mn-cs"/>
              </a:rPr>
              <a:t>3.</a:t>
            </a:r>
            <a:r>
              <a:rPr lang="zh-CN" altLang="zh-CN" sz="1200" b="0" i="0" kern="1200" dirty="0">
                <a:solidFill>
                  <a:schemeClr val="tx1"/>
                </a:solidFill>
                <a:effectLst/>
                <a:latin typeface="+mn-lt"/>
                <a:ea typeface="+mn-ea"/>
                <a:cs typeface="+mn-cs"/>
              </a:rPr>
              <a:t>校准头的瓶颈（64）更窄，这确保它只能学到</a:t>
            </a:r>
            <a:r>
              <a:rPr lang="zh-CN" altLang="zh-CN" sz="1200" b="1" i="0" kern="1200" dirty="0">
                <a:solidFill>
                  <a:schemeClr val="tx1"/>
                </a:solidFill>
                <a:effectLst/>
                <a:latin typeface="+mn-lt"/>
                <a:ea typeface="+mn-ea"/>
                <a:cs typeface="+mn-cs"/>
              </a:rPr>
              <a:t>全局性、低秩的系统偏差</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？瓶颈的数学原理</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只被</a:t>
            </a:r>
            <a:r>
              <a:rPr lang="en-US" altLang="zh-CN" sz="1200" b="0" i="0" kern="1200" dirty="0">
                <a:solidFill>
                  <a:schemeClr val="tx1"/>
                </a:solidFill>
                <a:effectLst/>
                <a:latin typeface="+mn-lt"/>
                <a:ea typeface="+mn-ea"/>
                <a:cs typeface="+mn-cs"/>
              </a:rPr>
              <a:t>MSE</a:t>
            </a:r>
            <a:r>
              <a:rPr lang="zh-CN" altLang="en-US" sz="1200" b="0" i="0" kern="1200" dirty="0">
                <a:solidFill>
                  <a:schemeClr val="tx1"/>
                </a:solidFill>
                <a:effectLst/>
                <a:latin typeface="+mn-lt"/>
                <a:ea typeface="+mn-ea"/>
                <a:cs typeface="+mn-cs"/>
              </a:rPr>
              <a:t>监督，不参与</a:t>
            </a:r>
            <a:r>
              <a:rPr lang="en-US" altLang="zh-CN" sz="1200" b="0" i="0" kern="1200" dirty="0">
                <a:solidFill>
                  <a:schemeClr val="tx1"/>
                </a:solidFill>
                <a:effectLst/>
                <a:latin typeface="+mn-lt"/>
                <a:ea typeface="+mn-ea"/>
                <a:cs typeface="+mn-cs"/>
              </a:rPr>
              <a:t>FC</a:t>
            </a:r>
            <a:r>
              <a:rPr lang="zh-CN" altLang="en-US" sz="1200" b="0" i="0" kern="1200" dirty="0">
                <a:solidFill>
                  <a:schemeClr val="tx1"/>
                </a:solidFill>
                <a:effectLst/>
                <a:latin typeface="+mn-lt"/>
                <a:ea typeface="+mn-ea"/>
                <a:cs typeface="+mn-cs"/>
              </a:rPr>
              <a:t>监督和</a:t>
            </a:r>
            <a:r>
              <a:rPr lang="en-US" altLang="zh-CN" sz="1200" b="0" i="0" kern="1200" dirty="0">
                <a:solidFill>
                  <a:schemeClr val="tx1"/>
                </a:solidFill>
                <a:effectLst/>
                <a:latin typeface="+mn-lt"/>
                <a:ea typeface="+mn-ea"/>
                <a:cs typeface="+mn-cs"/>
              </a:rPr>
              <a:t>L2</a:t>
            </a:r>
            <a:r>
              <a:rPr lang="zh-CN" altLang="en-US" sz="1200" b="0" i="0" kern="1200" dirty="0">
                <a:solidFill>
                  <a:schemeClr val="tx1"/>
                </a:solidFill>
                <a:effectLst/>
                <a:latin typeface="+mn-lt"/>
                <a:ea typeface="+mn-ea"/>
                <a:cs typeface="+mn-cs"/>
              </a:rPr>
              <a:t>正则化。？</a:t>
            </a:r>
            <a:r>
              <a:rPr lang="en-US" altLang="zh-CN" sz="1200" b="0" i="0" kern="1200" dirty="0">
                <a:solidFill>
                  <a:schemeClr val="tx1"/>
                </a:solidFill>
                <a:effectLst/>
                <a:latin typeface="+mn-lt"/>
                <a:ea typeface="+mn-ea"/>
                <a:cs typeface="+mn-cs"/>
              </a:rPr>
              <a:t>Why</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zh-CN" altLang="en-US" b="0" dirty="0"/>
          </a:p>
        </p:txBody>
      </p:sp>
      <p:sp>
        <p:nvSpPr>
          <p:cNvPr id="4" name="灯片编号占位符 3"/>
          <p:cNvSpPr>
            <a:spLocks noGrp="1"/>
          </p:cNvSpPr>
          <p:nvPr>
            <p:ph type="sldNum" sz="quarter" idx="5"/>
          </p:nvPr>
        </p:nvSpPr>
        <p:spPr/>
        <p:txBody>
          <a:bodyPr/>
          <a:lstStyle/>
          <a:p>
            <a:fld id="{5F9A585B-76CB-46FB-9235-790137315319}" type="slidenum">
              <a:rPr lang="zh-CN" altLang="en-US" smtClean="0"/>
              <a:t>6</a:t>
            </a:fld>
            <a:endParaRPr lang="zh-CN" altLang="en-US"/>
          </a:p>
        </p:txBody>
      </p:sp>
    </p:spTree>
    <p:extLst>
      <p:ext uri="{BB962C8B-B14F-4D97-AF65-F5344CB8AC3E}">
        <p14:creationId xmlns:p14="http://schemas.microsoft.com/office/powerpoint/2010/main" val="3412594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残差分解解码器头出来的</a:t>
            </a:r>
            <a:r>
              <a:rPr lang="en-US" altLang="zh-CN" dirty="0" err="1"/>
              <a:t>y_raw</a:t>
            </a:r>
            <a:r>
              <a:rPr lang="zh-CN" altLang="en-US" dirty="0"/>
              <a:t>再输入蛋白质共表达图</a:t>
            </a:r>
            <a:r>
              <a:rPr lang="en-US" altLang="zh-CN" dirty="0"/>
              <a:t>GNN</a:t>
            </a:r>
            <a:r>
              <a:rPr lang="zh-CN" altLang="en-US" dirty="0"/>
              <a:t>中，利用训练集中协同表达的蛋白信息来纠偏每个蛋白的预测。纠偏后的</a:t>
            </a:r>
            <a:r>
              <a:rPr lang="en-US" altLang="zh-CN" dirty="0" err="1"/>
              <a:t>y_smoothed</a:t>
            </a:r>
            <a:r>
              <a:rPr lang="zh-CN" altLang="en-US" dirty="0"/>
              <a:t>再和批次校准效应量相加，产出最终预测值。？原理最难理解</a:t>
            </a:r>
          </a:p>
        </p:txBody>
      </p:sp>
      <p:sp>
        <p:nvSpPr>
          <p:cNvPr id="4" name="灯片编号占位符 3"/>
          <p:cNvSpPr>
            <a:spLocks noGrp="1"/>
          </p:cNvSpPr>
          <p:nvPr>
            <p:ph type="sldNum" sz="quarter" idx="5"/>
          </p:nvPr>
        </p:nvSpPr>
        <p:spPr/>
        <p:txBody>
          <a:bodyPr/>
          <a:lstStyle/>
          <a:p>
            <a:fld id="{5F9A585B-76CB-46FB-9235-790137315319}" type="slidenum">
              <a:rPr lang="zh-CN" altLang="en-US" smtClean="0"/>
              <a:t>7</a:t>
            </a:fld>
            <a:endParaRPr lang="zh-CN" altLang="en-US"/>
          </a:p>
        </p:txBody>
      </p:sp>
    </p:spTree>
    <p:extLst>
      <p:ext uri="{BB962C8B-B14F-4D97-AF65-F5344CB8AC3E}">
        <p14:creationId xmlns:p14="http://schemas.microsoft.com/office/powerpoint/2010/main" val="816927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评测指标</a:t>
            </a:r>
            <a:endParaRPr lang="en-US" altLang="zh-CN" dirty="0"/>
          </a:p>
          <a:p>
            <a:r>
              <a:rPr lang="en-US" altLang="zh-CN" dirty="0"/>
              <a:t>1.1</a:t>
            </a:r>
            <a:r>
              <a:rPr lang="zh-CN" altLang="zh-CN" dirty="0"/>
              <a:t>Per-Protein R²</a:t>
            </a:r>
            <a:r>
              <a:rPr lang="en-US" altLang="zh-CN" dirty="0"/>
              <a:t> </a:t>
            </a:r>
            <a:r>
              <a:rPr lang="zh-CN" altLang="en-US" dirty="0"/>
              <a:t>？为什么不融入</a:t>
            </a:r>
            <a:r>
              <a:rPr lang="en-US" altLang="zh-CN" dirty="0"/>
              <a:t>loss</a:t>
            </a:r>
            <a:r>
              <a:rPr lang="zh-CN" altLang="en-US" dirty="0"/>
              <a:t>，什么是早停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1.2</a:t>
            </a:r>
            <a:r>
              <a:rPr lang="zh-CN" altLang="zh-CN" dirty="0"/>
              <a:t>Fold Change Pearson</a:t>
            </a:r>
            <a:r>
              <a:rPr lang="zh-CN" altLang="en-US" dirty="0"/>
              <a:t>：融入</a:t>
            </a:r>
            <a:r>
              <a:rPr lang="en-US" altLang="zh-CN" dirty="0"/>
              <a:t>Loss-</a:t>
            </a:r>
            <a:r>
              <a:rPr lang="zh-CN" altLang="zh-CN" sz="1200" b="0" i="0" kern="1200" dirty="0">
                <a:solidFill>
                  <a:schemeClr val="tx1"/>
                </a:solidFill>
                <a:effectLst/>
                <a:latin typeface="+mn-lt"/>
                <a:ea typeface="+mn-ea"/>
                <a:cs typeface="+mn-cs"/>
              </a:rPr>
              <a:t>fc_pearson_loss</a:t>
            </a:r>
            <a:r>
              <a:rPr lang="zh-CN" altLang="en-US" sz="1200" b="0" i="0" kern="1200" dirty="0">
                <a:solidFill>
                  <a:schemeClr val="tx1"/>
                </a:solidFill>
                <a:effectLst/>
                <a:latin typeface="+mn-lt"/>
                <a:ea typeface="+mn-ea"/>
                <a:cs typeface="+mn-cs"/>
              </a:rPr>
              <a:t>：</a:t>
            </a:r>
            <a:r>
              <a:rPr lang="zh-CN" altLang="zh-CN" sz="1200" b="0" i="0" kern="1200" dirty="0">
                <a:solidFill>
                  <a:schemeClr val="tx1"/>
                </a:solidFill>
                <a:effectLst/>
                <a:latin typeface="+mn-lt"/>
                <a:ea typeface="+mn-ea"/>
                <a:cs typeface="+mn-cs"/>
              </a:rPr>
              <a:t>1 - corr(fc_pred, fc_true)</a:t>
            </a:r>
            <a:endParaRPr lang="en-US" altLang="zh-CN" dirty="0"/>
          </a:p>
          <a:p>
            <a:endParaRPr lang="en-US" altLang="zh-CN" dirty="0"/>
          </a:p>
          <a:p>
            <a:r>
              <a:rPr lang="en-US" altLang="zh-CN" dirty="0"/>
              <a:t>2.Baseline</a:t>
            </a:r>
            <a:r>
              <a:rPr lang="zh-CN" altLang="en-US" dirty="0"/>
              <a:t>选择</a:t>
            </a:r>
            <a:endParaRPr lang="en-US" altLang="zh-CN" dirty="0"/>
          </a:p>
          <a:p>
            <a:r>
              <a:rPr lang="en-US" altLang="zh-CN" dirty="0"/>
              <a:t>2.1 </a:t>
            </a:r>
            <a:r>
              <a:rPr lang="zh-CN" altLang="en-US" dirty="0"/>
              <a:t>蛋白质均值基线：划定下线。</a:t>
            </a:r>
            <a:r>
              <a:rPr lang="zh-CN" altLang="zh-CN" sz="1200" b="0" i="0" kern="1200" dirty="0">
                <a:solidFill>
                  <a:schemeClr val="tx1"/>
                </a:solidFill>
                <a:effectLst/>
                <a:latin typeface="+mn-lt"/>
                <a:ea typeface="+mn-ea"/>
                <a:cs typeface="+mn-cs"/>
              </a:rPr>
              <a:t>Per-Protein R²</a:t>
            </a:r>
            <a:r>
              <a:rPr lang="zh-CN" altLang="en-US" sz="1200" b="0" i="0" kern="1200" dirty="0">
                <a:solidFill>
                  <a:schemeClr val="tx1"/>
                </a:solidFill>
                <a:effectLst/>
                <a:latin typeface="+mn-lt"/>
                <a:ea typeface="+mn-ea"/>
                <a:cs typeface="+mn-cs"/>
              </a:rPr>
              <a:t>中位数为</a:t>
            </a:r>
            <a:r>
              <a:rPr lang="en-US" altLang="zh-CN" sz="1200" b="0" i="0" kern="1200" dirty="0">
                <a:solidFill>
                  <a:schemeClr val="tx1"/>
                </a:solidFill>
                <a:effectLst/>
                <a:latin typeface="+mn-lt"/>
                <a:ea typeface="+mn-ea"/>
                <a:cs typeface="+mn-cs"/>
              </a:rPr>
              <a:t>-0.06</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fold change</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0</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2.2</a:t>
            </a:r>
            <a:r>
              <a:rPr lang="zh-CN" altLang="zh-CN" sz="1200" b="0" i="0" kern="1200" dirty="0">
                <a:solidFill>
                  <a:schemeClr val="tx1"/>
                </a:solidFill>
                <a:effectLst/>
                <a:latin typeface="+mn-lt"/>
                <a:ea typeface="+mn-ea"/>
                <a:cs typeface="+mn-cs"/>
              </a:rPr>
              <a:t>在训练集中找到同样 strain/medium/temp/time/plate 的 Water/DMSO 对照</a:t>
            </a:r>
            <a:r>
              <a:rPr lang="zh-CN" altLang="en-US" sz="1200" b="0" i="0" kern="1200" dirty="0">
                <a:solidFill>
                  <a:schemeClr val="tx1"/>
                </a:solidFill>
                <a:effectLst/>
                <a:latin typeface="+mn-lt"/>
                <a:ea typeface="+mn-ea"/>
                <a:cs typeface="+mn-cs"/>
              </a:rPr>
              <a:t>，相当于动用认为经验推断，</a:t>
            </a:r>
            <a:r>
              <a:rPr lang="zh-CN" altLang="zh-CN" sz="1200" b="0" i="0" kern="1200" dirty="0">
                <a:solidFill>
                  <a:schemeClr val="tx1"/>
                </a:solidFill>
                <a:effectLst/>
                <a:latin typeface="+mn-lt"/>
                <a:ea typeface="+mn-ea"/>
                <a:cs typeface="+mn-cs"/>
              </a:rPr>
              <a:t>Per-Protein R² ≈ </a:t>
            </a:r>
            <a:r>
              <a:rPr lang="zh-CN" altLang="zh-CN" sz="1200" b="1" i="0" kern="1200" dirty="0">
                <a:solidFill>
                  <a:schemeClr val="tx1"/>
                </a:solidFill>
                <a:effectLst/>
                <a:latin typeface="+mn-lt"/>
                <a:ea typeface="+mn-ea"/>
                <a:cs typeface="+mn-cs"/>
              </a:rPr>
              <a:t>0.72–0.84</a:t>
            </a:r>
            <a:r>
              <a:rPr lang="zh-CN" altLang="en-US" sz="1200" b="0" i="0" kern="1200" dirty="0">
                <a:solidFill>
                  <a:schemeClr val="tx1"/>
                </a:solidFill>
                <a:effectLst/>
                <a:latin typeface="+mn-lt"/>
                <a:ea typeface="+mn-ea"/>
                <a:cs typeface="+mn-cs"/>
              </a:rPr>
              <a:t>。不含化学扰动本身，若超过这个值，则一部分说明模型学到了化学扰动的规律。？可以严格说明吗</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简单的特征</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蛋白映射模型（</a:t>
            </a:r>
            <a:r>
              <a:rPr lang="en-US" altLang="zh-CN" sz="1200" b="0" i="0" kern="1200" dirty="0">
                <a:solidFill>
                  <a:schemeClr val="tx1"/>
                </a:solidFill>
                <a:effectLst/>
                <a:latin typeface="+mn-lt"/>
                <a:ea typeface="+mn-ea"/>
                <a:cs typeface="+mn-cs"/>
              </a:rPr>
              <a:t>ML</a:t>
            </a:r>
            <a:r>
              <a:rPr lang="zh-CN" altLang="en-US" sz="1200" b="0" i="0" kern="1200" dirty="0">
                <a:solidFill>
                  <a:schemeClr val="tx1"/>
                </a:solidFill>
                <a:effectLst/>
                <a:latin typeface="+mn-lt"/>
                <a:ea typeface="+mn-ea"/>
                <a:cs typeface="+mn-cs"/>
              </a:rPr>
              <a:t>基线），</a:t>
            </a:r>
            <a:r>
              <a:rPr lang="zh-CN" altLang="zh-CN" sz="1200" b="0" i="0" kern="1200" dirty="0">
                <a:solidFill>
                  <a:schemeClr val="tx1"/>
                </a:solidFill>
                <a:effectLst/>
                <a:latin typeface="+mn-lt"/>
                <a:ea typeface="+mn-ea"/>
                <a:cs typeface="+mn-cs"/>
              </a:rPr>
              <a:t>参数量约 1.2M，仅使用类别 one-hot + 温度 + 时间特征，用 mask-aware MSE 训练</a:t>
            </a:r>
            <a:r>
              <a:rPr lang="zh-CN" altLang="en-US" sz="1200" b="0" i="0" kern="1200" dirty="0">
                <a:solidFill>
                  <a:schemeClr val="tx1"/>
                </a:solidFill>
                <a:effectLst/>
                <a:latin typeface="+mn-lt"/>
                <a:ea typeface="+mn-ea"/>
                <a:cs typeface="+mn-cs"/>
              </a:rPr>
              <a:t>？为什么选择它当</a:t>
            </a:r>
            <a:r>
              <a:rPr lang="en-US" altLang="zh-CN" sz="1200" b="0" i="0" kern="1200" dirty="0">
                <a:solidFill>
                  <a:schemeClr val="tx1"/>
                </a:solidFill>
                <a:effectLst/>
                <a:latin typeface="+mn-lt"/>
                <a:ea typeface="+mn-ea"/>
                <a:cs typeface="+mn-cs"/>
              </a:rPr>
              <a:t>baseline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b="0" i="0" kern="1200" dirty="0">
                <a:solidFill>
                  <a:schemeClr val="tx1"/>
                </a:solidFill>
                <a:effectLst/>
                <a:latin typeface="+mn-lt"/>
                <a:ea typeface="+mn-ea"/>
                <a:cs typeface="+mn-cs"/>
              </a:rPr>
            </a:br>
            <a:endParaRPr lang="zh-CN"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5F9A585B-76CB-46FB-9235-790137315319}" type="slidenum">
              <a:rPr lang="zh-CN" altLang="en-US" smtClean="0"/>
              <a:t>8</a:t>
            </a:fld>
            <a:endParaRPr lang="zh-CN" altLang="en-US"/>
          </a:p>
        </p:txBody>
      </p:sp>
    </p:spTree>
    <p:extLst>
      <p:ext uri="{BB962C8B-B14F-4D97-AF65-F5344CB8AC3E}">
        <p14:creationId xmlns:p14="http://schemas.microsoft.com/office/powerpoint/2010/main" val="1479861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对于菌株的预测模型有一定提升</a:t>
            </a:r>
            <a:endParaRPr lang="en-US" altLang="zh-CN" dirty="0"/>
          </a:p>
          <a:p>
            <a:r>
              <a:rPr lang="en-US" altLang="zh-CN" dirty="0"/>
              <a:t>2.</a:t>
            </a:r>
            <a:r>
              <a:rPr lang="zh-CN" altLang="en-US" dirty="0"/>
              <a:t>对于化学特征的预测模型不如基线，考虑是编码策略的问题</a:t>
            </a:r>
            <a:endParaRPr lang="en-US" altLang="zh-CN" dirty="0"/>
          </a:p>
          <a:p>
            <a:r>
              <a:rPr lang="en-US" altLang="zh-CN" dirty="0"/>
              <a:t>3.</a:t>
            </a:r>
            <a:r>
              <a:rPr lang="zh-CN" altLang="en-US" dirty="0"/>
              <a:t>对于时间插值的预测模型波动不大，初步认定模型可以捕捉到时间序列模式</a:t>
            </a:r>
            <a:endParaRPr lang="en-US" altLang="zh-CN" dirty="0"/>
          </a:p>
        </p:txBody>
      </p:sp>
      <p:sp>
        <p:nvSpPr>
          <p:cNvPr id="4" name="灯片编号占位符 3"/>
          <p:cNvSpPr>
            <a:spLocks noGrp="1"/>
          </p:cNvSpPr>
          <p:nvPr>
            <p:ph type="sldNum" sz="quarter" idx="5"/>
          </p:nvPr>
        </p:nvSpPr>
        <p:spPr/>
        <p:txBody>
          <a:bodyPr/>
          <a:lstStyle/>
          <a:p>
            <a:fld id="{5F9A585B-76CB-46FB-9235-790137315319}" type="slidenum">
              <a:rPr lang="zh-CN" altLang="en-US" smtClean="0"/>
              <a:t>9</a:t>
            </a:fld>
            <a:endParaRPr lang="zh-CN" altLang="en-US"/>
          </a:p>
        </p:txBody>
      </p:sp>
    </p:spTree>
    <p:extLst>
      <p:ext uri="{BB962C8B-B14F-4D97-AF65-F5344CB8AC3E}">
        <p14:creationId xmlns:p14="http://schemas.microsoft.com/office/powerpoint/2010/main" val="3925390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B568F-AE18-9510-53F3-1B31123249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E03200-5591-9056-E481-1A59549673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C9F18D-5AED-2BF9-F7AC-EFE0E8C3C15D}"/>
              </a:ext>
            </a:extLst>
          </p:cNvPr>
          <p:cNvSpPr>
            <a:spLocks noGrp="1"/>
          </p:cNvSpPr>
          <p:nvPr>
            <p:ph type="body" idx="1"/>
          </p:nvPr>
        </p:nvSpPr>
        <p:spPr/>
        <p:txBody>
          <a:bodyPr/>
          <a:lstStyle/>
          <a:p>
            <a:r>
              <a:rPr lang="zh-CN" altLang="en-US" dirty="0"/>
              <a:t>以</a:t>
            </a:r>
            <a:r>
              <a:rPr lang="en-US" altLang="zh-CN" dirty="0" err="1"/>
              <a:t>val_both</a:t>
            </a:r>
            <a:r>
              <a:rPr lang="zh-CN" altLang="en-US" dirty="0"/>
              <a:t>的</a:t>
            </a:r>
            <a:r>
              <a:rPr lang="en-US" altLang="zh-CN" dirty="0"/>
              <a:t>per-</a:t>
            </a:r>
            <a:r>
              <a:rPr lang="en-US" altLang="zh-CN" dirty="0" err="1"/>
              <a:t>proteinR</a:t>
            </a:r>
            <a:r>
              <a:rPr lang="zh-CN" altLang="en-US" dirty="0"/>
              <a:t>方为评价指标：</a:t>
            </a:r>
            <a:endParaRPr lang="en-US" altLang="zh-CN" dirty="0"/>
          </a:p>
          <a:p>
            <a:r>
              <a:rPr lang="zh-CN" altLang="en-US" dirty="0"/>
              <a:t>仅菌株的编码策略会降低模型的性能，其余编码策略均有正向作用。考虑替换现有菌株编码策略</a:t>
            </a:r>
            <a:r>
              <a:rPr lang="en-US" altLang="zh-CN" dirty="0"/>
              <a:t>/</a:t>
            </a:r>
            <a:r>
              <a:rPr lang="zh-CN" altLang="en-US" dirty="0"/>
              <a:t>直接删除。可能是由于训练集只有</a:t>
            </a:r>
            <a:r>
              <a:rPr lang="en-US" altLang="zh-CN" dirty="0"/>
              <a:t>4</a:t>
            </a:r>
            <a:r>
              <a:rPr lang="zh-CN" altLang="en-US" dirty="0"/>
              <a:t>类菌株所致。</a:t>
            </a:r>
            <a:endParaRPr lang="en-US" altLang="zh-CN" dirty="0"/>
          </a:p>
          <a:p>
            <a:r>
              <a:rPr lang="zh-CN" altLang="en-US" dirty="0"/>
              <a:t>对于化学特征的编码，虽说其不能让整体模型效果超越基线模型，但是再模型效能的贡献还是很大的</a:t>
            </a:r>
          </a:p>
        </p:txBody>
      </p:sp>
      <p:sp>
        <p:nvSpPr>
          <p:cNvPr id="4" name="灯片编号占位符 3">
            <a:extLst>
              <a:ext uri="{FF2B5EF4-FFF2-40B4-BE49-F238E27FC236}">
                <a16:creationId xmlns:a16="http://schemas.microsoft.com/office/drawing/2014/main" id="{26D3CC60-8694-7FBF-EA5D-3ED9005F6355}"/>
              </a:ext>
            </a:extLst>
          </p:cNvPr>
          <p:cNvSpPr>
            <a:spLocks noGrp="1"/>
          </p:cNvSpPr>
          <p:nvPr>
            <p:ph type="sldNum" sz="quarter" idx="5"/>
          </p:nvPr>
        </p:nvSpPr>
        <p:spPr/>
        <p:txBody>
          <a:bodyPr/>
          <a:lstStyle/>
          <a:p>
            <a:fld id="{5F9A585B-76CB-46FB-9235-790137315319}" type="slidenum">
              <a:rPr lang="zh-CN" altLang="en-US" smtClean="0"/>
              <a:t>10</a:t>
            </a:fld>
            <a:endParaRPr lang="zh-CN" altLang="en-US"/>
          </a:p>
        </p:txBody>
      </p:sp>
    </p:spTree>
    <p:extLst>
      <p:ext uri="{BB962C8B-B14F-4D97-AF65-F5344CB8AC3E}">
        <p14:creationId xmlns:p14="http://schemas.microsoft.com/office/powerpoint/2010/main" val="3849802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2BD0A-B71D-F0D2-205F-0D44CC413D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B66EF0-B717-223D-5194-3BDB1DE527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81EB5B-3BF9-1844-0A68-47358B7B52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a:t>
            </a:r>
            <a:r>
              <a:rPr lang="en-US" altLang="zh-CN" dirty="0" err="1"/>
              <a:t>val_both</a:t>
            </a:r>
            <a:r>
              <a:rPr lang="zh-CN" altLang="en-US" dirty="0"/>
              <a:t>的</a:t>
            </a:r>
            <a:r>
              <a:rPr lang="en-US" altLang="zh-CN" dirty="0"/>
              <a:t>per-</a:t>
            </a:r>
            <a:r>
              <a:rPr lang="en-US" altLang="zh-CN" dirty="0" err="1"/>
              <a:t>proteinR</a:t>
            </a:r>
            <a:r>
              <a:rPr lang="zh-CN" altLang="en-US" dirty="0"/>
              <a:t>方为评价指标：</a:t>
            </a:r>
            <a:endParaRPr lang="en-US" altLang="zh-CN" dirty="0"/>
          </a:p>
          <a:p>
            <a:r>
              <a:rPr lang="zh-CN" altLang="en-US" dirty="0"/>
              <a:t>残差分解和校准都对模型性能有正向影响</a:t>
            </a:r>
            <a:endParaRPr lang="en-US" altLang="zh-CN" dirty="0"/>
          </a:p>
          <a:p>
            <a:r>
              <a:rPr lang="en-US" altLang="zh-CN" dirty="0"/>
              <a:t>GNN</a:t>
            </a:r>
            <a:r>
              <a:rPr lang="zh-CN" altLang="en-US" dirty="0"/>
              <a:t>信号量小（</a:t>
            </a:r>
            <a:r>
              <a:rPr lang="en-US" altLang="zh-CN" dirty="0"/>
              <a:t>-0.9375v.s.-1.0962</a:t>
            </a:r>
            <a:r>
              <a:rPr lang="zh-CN" altLang="en-US" dirty="0"/>
              <a:t>）</a:t>
            </a:r>
          </a:p>
        </p:txBody>
      </p:sp>
      <p:sp>
        <p:nvSpPr>
          <p:cNvPr id="4" name="灯片编号占位符 3">
            <a:extLst>
              <a:ext uri="{FF2B5EF4-FFF2-40B4-BE49-F238E27FC236}">
                <a16:creationId xmlns:a16="http://schemas.microsoft.com/office/drawing/2014/main" id="{24E11402-D1B2-F625-0D72-6C6118A8B3C8}"/>
              </a:ext>
            </a:extLst>
          </p:cNvPr>
          <p:cNvSpPr>
            <a:spLocks noGrp="1"/>
          </p:cNvSpPr>
          <p:nvPr>
            <p:ph type="sldNum" sz="quarter" idx="5"/>
          </p:nvPr>
        </p:nvSpPr>
        <p:spPr/>
        <p:txBody>
          <a:bodyPr/>
          <a:lstStyle/>
          <a:p>
            <a:fld id="{5F9A585B-76CB-46FB-9235-790137315319}" type="slidenum">
              <a:rPr lang="zh-CN" altLang="en-US" smtClean="0"/>
              <a:t>11</a:t>
            </a:fld>
            <a:endParaRPr lang="zh-CN" altLang="en-US"/>
          </a:p>
        </p:txBody>
      </p:sp>
    </p:spTree>
    <p:extLst>
      <p:ext uri="{BB962C8B-B14F-4D97-AF65-F5344CB8AC3E}">
        <p14:creationId xmlns:p14="http://schemas.microsoft.com/office/powerpoint/2010/main" val="4243154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91F11-0C05-B0EB-4B28-C3B4B0CD63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CEFBEB-83EA-459B-B034-B857D6B5D3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CC2C74-98C5-992D-F7F9-F31FF13DBE17}"/>
              </a:ext>
            </a:extLst>
          </p:cNvPr>
          <p:cNvSpPr>
            <a:spLocks noGrp="1"/>
          </p:cNvSpPr>
          <p:nvPr>
            <p:ph type="body" idx="1"/>
          </p:nvPr>
        </p:nvSpPr>
        <p:spPr/>
        <p:txBody>
          <a:bodyPr/>
          <a:lstStyle/>
          <a:p>
            <a:r>
              <a:rPr lang="zh-CN" altLang="en-US" dirty="0"/>
              <a:t>残差</a:t>
            </a:r>
            <a:r>
              <a:rPr lang="en-US" altLang="zh-CN" dirty="0"/>
              <a:t>L2</a:t>
            </a:r>
            <a:r>
              <a:rPr lang="zh-CN" altLang="en-US" dirty="0"/>
              <a:t>正则项</a:t>
            </a:r>
            <a:r>
              <a:rPr lang="en-US" altLang="zh-CN" dirty="0"/>
              <a:t>loss</a:t>
            </a:r>
            <a:r>
              <a:rPr lang="zh-CN" altLang="en-US" dirty="0"/>
              <a:t>对模型性能有负向影响</a:t>
            </a:r>
            <a:endParaRPr lang="en-US" altLang="zh-CN" dirty="0"/>
          </a:p>
          <a:p>
            <a:r>
              <a:rPr lang="en-US" altLang="zh-CN" dirty="0"/>
              <a:t>FC Pearson</a:t>
            </a:r>
            <a:r>
              <a:rPr lang="zh-CN" altLang="en-US" dirty="0"/>
              <a:t>有正向影响</a:t>
            </a:r>
            <a:endParaRPr lang="en-US" altLang="zh-CN" dirty="0"/>
          </a:p>
          <a:p>
            <a:r>
              <a:rPr lang="zh-CN" altLang="en-US" dirty="0"/>
              <a:t>相关一致性</a:t>
            </a:r>
            <a:r>
              <a:rPr lang="en-US" altLang="zh-CN" dirty="0"/>
              <a:t>loss</a:t>
            </a:r>
            <a:r>
              <a:rPr lang="zh-CN" altLang="en-US" dirty="0"/>
              <a:t>影响计算失败，待排除原因</a:t>
            </a:r>
            <a:endParaRPr lang="en-US" altLang="zh-CN" dirty="0"/>
          </a:p>
          <a:p>
            <a:r>
              <a:rPr lang="zh-CN" altLang="en-US" dirty="0"/>
              <a:t>？怎么不单测</a:t>
            </a:r>
            <a:r>
              <a:rPr lang="en-US" altLang="zh-CN" dirty="0" err="1"/>
              <a:t>mse</a:t>
            </a:r>
            <a:r>
              <a:rPr lang="zh-CN" altLang="en-US" dirty="0"/>
              <a:t>的</a:t>
            </a:r>
          </a:p>
        </p:txBody>
      </p:sp>
      <p:sp>
        <p:nvSpPr>
          <p:cNvPr id="4" name="灯片编号占位符 3">
            <a:extLst>
              <a:ext uri="{FF2B5EF4-FFF2-40B4-BE49-F238E27FC236}">
                <a16:creationId xmlns:a16="http://schemas.microsoft.com/office/drawing/2014/main" id="{FF033FF1-DE48-D762-85B2-837A54EAF12D}"/>
              </a:ext>
            </a:extLst>
          </p:cNvPr>
          <p:cNvSpPr>
            <a:spLocks noGrp="1"/>
          </p:cNvSpPr>
          <p:nvPr>
            <p:ph type="sldNum" sz="quarter" idx="5"/>
          </p:nvPr>
        </p:nvSpPr>
        <p:spPr/>
        <p:txBody>
          <a:bodyPr/>
          <a:lstStyle/>
          <a:p>
            <a:fld id="{5F9A585B-76CB-46FB-9235-790137315319}" type="slidenum">
              <a:rPr lang="zh-CN" altLang="en-US" smtClean="0"/>
              <a:t>12</a:t>
            </a:fld>
            <a:endParaRPr lang="zh-CN" altLang="en-US"/>
          </a:p>
        </p:txBody>
      </p:sp>
    </p:spTree>
    <p:extLst>
      <p:ext uri="{BB962C8B-B14F-4D97-AF65-F5344CB8AC3E}">
        <p14:creationId xmlns:p14="http://schemas.microsoft.com/office/powerpoint/2010/main" val="3698959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a:t>
            </a:r>
            <a:r>
              <a:rPr lang="en-US" altLang="zh-CN" dirty="0"/>
              <a:t>2</a:t>
            </a:r>
            <a:r>
              <a:rPr lang="zh-CN" altLang="en-US" dirty="0"/>
              <a:t>基于封闭数据榜</a:t>
            </a:r>
          </a:p>
        </p:txBody>
      </p:sp>
      <p:sp>
        <p:nvSpPr>
          <p:cNvPr id="4" name="灯片编号占位符 3"/>
          <p:cNvSpPr>
            <a:spLocks noGrp="1"/>
          </p:cNvSpPr>
          <p:nvPr>
            <p:ph type="sldNum" sz="quarter" idx="5"/>
          </p:nvPr>
        </p:nvSpPr>
        <p:spPr/>
        <p:txBody>
          <a:bodyPr/>
          <a:lstStyle/>
          <a:p>
            <a:fld id="{5F9A585B-76CB-46FB-9235-790137315319}" type="slidenum">
              <a:rPr lang="zh-CN" altLang="en-US" smtClean="0"/>
              <a:t>13</a:t>
            </a:fld>
            <a:endParaRPr lang="zh-CN" altLang="en-US"/>
          </a:p>
        </p:txBody>
      </p:sp>
    </p:spTree>
    <p:extLst>
      <p:ext uri="{BB962C8B-B14F-4D97-AF65-F5344CB8AC3E}">
        <p14:creationId xmlns:p14="http://schemas.microsoft.com/office/powerpoint/2010/main" val="1299359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E5F98-9F56-E9D0-A673-21C81EA36E3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AD6433E-F65F-F54B-AD96-A044E4FA1E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7FAC957-8B50-4F2D-B8CD-72F4B06D5393}"/>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15EAFBF9-AF0F-B494-DAE8-6468A36D15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10D36D-5F37-64E8-8BD2-D41686E0E398}"/>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4002789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BD604F-C18B-434F-BF3C-B0D3A741B7D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7C95FF-60D6-E051-4DE4-CCED5EE160A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FA5822-1B89-5BCD-E2B0-AA03E4655BCA}"/>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C0ACF876-A516-78DD-CF5A-AD1EA058F7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B1228E-C1DA-FA67-A318-0B1977A86135}"/>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1960935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E5720-4EFA-6F94-CCDA-69CA36F3E5E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543709-0EE7-8BD8-E930-4D519A5F14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D920BF0-C931-E5F9-6639-C0F5082BA477}"/>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80F74BAB-264B-F3EE-CCB5-97C369B827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4E4A61-4CC1-57F8-1F6F-7CFCD05FA75F}"/>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203913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3E5F16-9D73-64B3-4DC8-4485DB79B7A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2BD6225-171F-4134-81C5-4C728518EE3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005A6DD-7524-F89C-B87F-955F313E648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23C16B0-4450-5965-4E22-35750AF9DA00}"/>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6" name="页脚占位符 5">
            <a:extLst>
              <a:ext uri="{FF2B5EF4-FFF2-40B4-BE49-F238E27FC236}">
                <a16:creationId xmlns:a16="http://schemas.microsoft.com/office/drawing/2014/main" id="{83045023-2169-81F6-696F-8B3A808310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F7134A2-EA62-F6EA-78BA-2AD431A5415D}"/>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336758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E7D29-68FC-73C4-2A93-249760C77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4DB4296-9DB6-08AD-545D-CC1D042721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0D4D958-4664-3148-42E6-51751E1D10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EE9D26B-3349-3ED3-6CF4-5D7849D0B9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1ABA639-FE75-7C80-3F3A-ACA8D472F89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2C9BA92-6787-9825-EC59-8C60A7ACB066}"/>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8" name="页脚占位符 7">
            <a:extLst>
              <a:ext uri="{FF2B5EF4-FFF2-40B4-BE49-F238E27FC236}">
                <a16:creationId xmlns:a16="http://schemas.microsoft.com/office/drawing/2014/main" id="{72A7113E-1B3C-FC4B-A3AA-B15C54BD143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2C3BC19-6EEC-27A1-69CF-BD59A0763347}"/>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2446719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14E7B-69EF-4D29-0048-70DD394DDF3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480051-BD9F-D470-020F-1179FE9C20C7}"/>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4" name="页脚占位符 3">
            <a:extLst>
              <a:ext uri="{FF2B5EF4-FFF2-40B4-BE49-F238E27FC236}">
                <a16:creationId xmlns:a16="http://schemas.microsoft.com/office/drawing/2014/main" id="{9240DA00-9C3C-8575-75EA-F17D1665DF6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D7E00CD-B198-9E2E-1F72-1052CEB2306A}"/>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2185354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72BEB59-7B92-1463-0C2A-0A453865B22C}"/>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3" name="页脚占位符 2">
            <a:extLst>
              <a:ext uri="{FF2B5EF4-FFF2-40B4-BE49-F238E27FC236}">
                <a16:creationId xmlns:a16="http://schemas.microsoft.com/office/drawing/2014/main" id="{BF89C874-DA08-8951-4A16-0BDDEDF6C6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E07361-3FF8-6995-2D4C-16F024E86199}"/>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1047100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D1FD32-73FC-1729-1AD8-16D36473CA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A9A0BB3-867B-38FE-149F-5B4B846CC2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3DD1FB6-B05F-7742-1477-B0FB872A0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D49195F-1026-DC9B-6862-CE85223BA8B6}"/>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6" name="页脚占位符 5">
            <a:extLst>
              <a:ext uri="{FF2B5EF4-FFF2-40B4-BE49-F238E27FC236}">
                <a16:creationId xmlns:a16="http://schemas.microsoft.com/office/drawing/2014/main" id="{0013CE80-364F-A25A-3223-FFD5547410F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C65CF68-4AAC-D926-C0A7-BEE3FB77C286}"/>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3940588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5442E-8AA4-26D8-6EAD-13378A37A6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AA32C5-9E23-EF2B-928E-599597BDF6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136AB8D-5CC9-A792-D0CE-D6820D890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1F125B-6023-C787-A3FE-862AEC0336DF}"/>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6" name="页脚占位符 5">
            <a:extLst>
              <a:ext uri="{FF2B5EF4-FFF2-40B4-BE49-F238E27FC236}">
                <a16:creationId xmlns:a16="http://schemas.microsoft.com/office/drawing/2014/main" id="{821119AF-4F5A-2718-83BD-87C7FBAB13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A7FFBE7-04FF-A012-0BE0-02A44CA19F0E}"/>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391310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3C2EEF-431C-C8E4-0249-8BE2E7B5F5B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307DA20-F235-63B7-84E1-A1B013E83D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066D6A-9738-8297-0F99-370B1DA4D19C}"/>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81F286FA-E8F4-CDBA-6F02-D3CCCC142F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B4D41E-4CB9-A154-542B-EA2103768353}"/>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28839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EB8D73-83D2-9C75-FF3B-9520E281F2D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1719380-25D4-9CDB-DB62-6984ACAF5B0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1EC897-75C6-27E5-CCAE-858853E67503}"/>
              </a:ext>
            </a:extLst>
          </p:cNvPr>
          <p:cNvSpPr>
            <a:spLocks noGrp="1"/>
          </p:cNvSpPr>
          <p:nvPr>
            <p:ph type="dt" sz="half" idx="10"/>
          </p:nvPr>
        </p:nvSpPr>
        <p:spPr/>
        <p:txBody>
          <a:body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6E326668-62EA-6ACF-E4DD-E899BE4B06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1AB0D3-D2BE-B93F-F0A3-BA9E6D268D17}"/>
              </a:ext>
            </a:extLst>
          </p:cNvPr>
          <p:cNvSpPr>
            <a:spLocks noGrp="1"/>
          </p:cNvSpPr>
          <p:nvPr>
            <p:ph type="sldNum" sz="quarter" idx="12"/>
          </p:nvPr>
        </p:nvSpPr>
        <p:spPr/>
        <p:txBody>
          <a:body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4191747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57B1D5D-07F7-412A-F009-F52AC90F47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5ADDE5E-9331-58A2-CECA-3D8488E57D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362867-40A6-43AD-7B15-34452DEEF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CC97DA-90DA-4723-B52B-DFFA4FD7125A}" type="datetimeFigureOut">
              <a:rPr lang="zh-CN" altLang="en-US" smtClean="0"/>
              <a:t>2026/8/10</a:t>
            </a:fld>
            <a:endParaRPr lang="zh-CN" altLang="en-US"/>
          </a:p>
        </p:txBody>
      </p:sp>
      <p:sp>
        <p:nvSpPr>
          <p:cNvPr id="5" name="页脚占位符 4">
            <a:extLst>
              <a:ext uri="{FF2B5EF4-FFF2-40B4-BE49-F238E27FC236}">
                <a16:creationId xmlns:a16="http://schemas.microsoft.com/office/drawing/2014/main" id="{EECF39CA-B5D4-9C12-E7A0-31DB59B4D7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9442D73-493F-1D01-7EAA-CD2F3A7176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56EDE6-729B-436E-A85E-5DD92463C8E3}" type="slidenum">
              <a:rPr lang="zh-CN" altLang="en-US" smtClean="0"/>
              <a:t>‹#›</a:t>
            </a:fld>
            <a:endParaRPr lang="zh-CN" altLang="en-US"/>
          </a:p>
        </p:txBody>
      </p:sp>
    </p:spTree>
    <p:extLst>
      <p:ext uri="{BB962C8B-B14F-4D97-AF65-F5344CB8AC3E}">
        <p14:creationId xmlns:p14="http://schemas.microsoft.com/office/powerpoint/2010/main" val="2825652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3E198-DD29-9260-A300-8814D0AB25AF}"/>
              </a:ext>
            </a:extLst>
          </p:cNvPr>
          <p:cNvSpPr>
            <a:spLocks noGrp="1"/>
          </p:cNvSpPr>
          <p:nvPr>
            <p:ph type="ctrTitle"/>
          </p:nvPr>
        </p:nvSpPr>
        <p:spPr>
          <a:xfrm>
            <a:off x="1523999" y="1122363"/>
            <a:ext cx="9805639" cy="2387600"/>
          </a:xfrm>
        </p:spPr>
        <p:txBody>
          <a:bodyPr>
            <a:normAutofit fontScale="90000"/>
          </a:bodyPr>
          <a:lstStyle/>
          <a:p>
            <a:r>
              <a:rPr lang="zh-CN" altLang="zh-CN" b="1" dirty="0"/>
              <a:t>基于残差分解与实体表征学习的酵母蛋白组扰动响应预测</a:t>
            </a:r>
            <a:r>
              <a:rPr lang="zh-CN" altLang="en-US" b="1" dirty="0"/>
              <a:t>模型</a:t>
            </a:r>
            <a:endParaRPr lang="zh-CN" altLang="en-US" dirty="0"/>
          </a:p>
        </p:txBody>
      </p:sp>
      <p:sp>
        <p:nvSpPr>
          <p:cNvPr id="3" name="副标题 2">
            <a:extLst>
              <a:ext uri="{FF2B5EF4-FFF2-40B4-BE49-F238E27FC236}">
                <a16:creationId xmlns:a16="http://schemas.microsoft.com/office/drawing/2014/main" id="{2E94CED0-AE0E-C59C-BB8A-774F8B6ABB5F}"/>
              </a:ext>
            </a:extLst>
          </p:cNvPr>
          <p:cNvSpPr>
            <a:spLocks noGrp="1"/>
          </p:cNvSpPr>
          <p:nvPr>
            <p:ph type="subTitle" idx="1"/>
          </p:nvPr>
        </p:nvSpPr>
        <p:spPr/>
        <p:txBody>
          <a:bodyPr/>
          <a:lstStyle/>
          <a:p>
            <a:r>
              <a:rPr lang="en-US" altLang="zh-CN" dirty="0"/>
              <a:t>AIVC Stewards</a:t>
            </a:r>
          </a:p>
          <a:p>
            <a:r>
              <a:rPr lang="zh-CN" altLang="en-US" dirty="0"/>
              <a:t>分享人：李翔宇</a:t>
            </a:r>
          </a:p>
        </p:txBody>
      </p:sp>
    </p:spTree>
    <p:extLst>
      <p:ext uri="{BB962C8B-B14F-4D97-AF65-F5344CB8AC3E}">
        <p14:creationId xmlns:p14="http://schemas.microsoft.com/office/powerpoint/2010/main" val="346284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F8C06-1A3A-2AAE-1FCC-79F01CB3E2B7}"/>
              </a:ext>
            </a:extLst>
          </p:cNvPr>
          <p:cNvSpPr>
            <a:spLocks noGrp="1"/>
          </p:cNvSpPr>
          <p:nvPr>
            <p:ph type="title"/>
          </p:nvPr>
        </p:nvSpPr>
        <p:spPr/>
        <p:txBody>
          <a:bodyPr/>
          <a:lstStyle/>
          <a:p>
            <a:r>
              <a:rPr lang="zh-CN" altLang="en-US" dirty="0"/>
              <a:t>科学问题理解</a:t>
            </a:r>
          </a:p>
        </p:txBody>
      </p:sp>
      <p:sp>
        <p:nvSpPr>
          <p:cNvPr id="3" name="内容占位符 2">
            <a:extLst>
              <a:ext uri="{FF2B5EF4-FFF2-40B4-BE49-F238E27FC236}">
                <a16:creationId xmlns:a16="http://schemas.microsoft.com/office/drawing/2014/main" id="{5E6EA9CF-E690-0A04-4539-B8C39D46103A}"/>
              </a:ext>
            </a:extLst>
          </p:cNvPr>
          <p:cNvSpPr>
            <a:spLocks noGrp="1"/>
          </p:cNvSpPr>
          <p:nvPr>
            <p:ph idx="1"/>
          </p:nvPr>
        </p:nvSpPr>
        <p:spPr/>
        <p:txBody>
          <a:bodyPr/>
          <a:lstStyle/>
          <a:p>
            <a:r>
              <a:rPr lang="zh-CN" altLang="en-US" dirty="0"/>
              <a:t>小样本高维外推</a:t>
            </a:r>
            <a:endParaRPr lang="en-US" altLang="zh-CN" dirty="0"/>
          </a:p>
          <a:p>
            <a:endParaRPr lang="en-US" altLang="zh-CN" dirty="0"/>
          </a:p>
          <a:p>
            <a:endParaRPr lang="en-US" altLang="zh-CN" dirty="0"/>
          </a:p>
          <a:p>
            <a:r>
              <a:rPr lang="zh-CN" altLang="en-US" dirty="0"/>
              <a:t>条件多</a:t>
            </a:r>
            <a:endParaRPr lang="en-US" altLang="zh-CN" dirty="0"/>
          </a:p>
          <a:p>
            <a:endParaRPr lang="en-US" altLang="zh-CN" dirty="0"/>
          </a:p>
          <a:p>
            <a:pPr marL="0" indent="0">
              <a:buNone/>
            </a:pPr>
            <a:endParaRPr lang="en-US" altLang="zh-CN" dirty="0"/>
          </a:p>
          <a:p>
            <a:r>
              <a:rPr lang="en-US" altLang="zh-CN" dirty="0"/>
              <a:t>OOD</a:t>
            </a:r>
            <a:r>
              <a:rPr lang="zh-CN" altLang="en-US" dirty="0"/>
              <a:t>泛化</a:t>
            </a:r>
            <a:endParaRPr lang="en-US" altLang="zh-CN" dirty="0"/>
          </a:p>
          <a:p>
            <a:pPr marL="0" indent="0">
              <a:buNone/>
            </a:pPr>
            <a:r>
              <a:rPr lang="zh-CN" altLang="en-US" dirty="0"/>
              <a:t>模型再遇到全新菌株和全新药物时的表现如何？</a:t>
            </a: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34845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560C0D-0128-EAE8-DDE1-D0AE55F8FB46}"/>
              </a:ext>
            </a:extLst>
          </p:cNvPr>
          <p:cNvSpPr>
            <a:spLocks noGrp="1"/>
          </p:cNvSpPr>
          <p:nvPr>
            <p:ph type="title"/>
          </p:nvPr>
        </p:nvSpPr>
        <p:spPr/>
        <p:txBody>
          <a:bodyPr/>
          <a:lstStyle/>
          <a:p>
            <a:r>
              <a:rPr lang="zh-CN" altLang="en-US" dirty="0"/>
              <a:t>核心思路特点</a:t>
            </a:r>
          </a:p>
        </p:txBody>
      </p:sp>
      <p:pic>
        <p:nvPicPr>
          <p:cNvPr id="6" name="内容占位符 5">
            <a:extLst>
              <a:ext uri="{FF2B5EF4-FFF2-40B4-BE49-F238E27FC236}">
                <a16:creationId xmlns:a16="http://schemas.microsoft.com/office/drawing/2014/main" id="{3C38C76B-6F9F-1F19-45C1-54B1653EC41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707519" y="127778"/>
            <a:ext cx="6511088" cy="6602444"/>
          </a:xfrm>
          <a:prstGeom prst="rect">
            <a:avLst/>
          </a:prstGeom>
          <a:noFill/>
          <a:ln>
            <a:noFill/>
          </a:ln>
        </p:spPr>
      </p:pic>
      <p:sp>
        <p:nvSpPr>
          <p:cNvPr id="7" name="文本框 6">
            <a:extLst>
              <a:ext uri="{FF2B5EF4-FFF2-40B4-BE49-F238E27FC236}">
                <a16:creationId xmlns:a16="http://schemas.microsoft.com/office/drawing/2014/main" id="{25D0B59A-4DC7-0B38-6742-B2802BF85D22}"/>
              </a:ext>
            </a:extLst>
          </p:cNvPr>
          <p:cNvSpPr txBox="1"/>
          <p:nvPr/>
        </p:nvSpPr>
        <p:spPr>
          <a:xfrm>
            <a:off x="757084" y="1779639"/>
            <a:ext cx="5014451" cy="3970318"/>
          </a:xfrm>
          <a:prstGeom prst="rect">
            <a:avLst/>
          </a:prstGeom>
          <a:noFill/>
          <a:ln>
            <a:noFill/>
          </a:ln>
        </p:spPr>
        <p:txBody>
          <a:bodyPr wrap="square" rtlCol="0">
            <a:spAutoFit/>
          </a:bodyPr>
          <a:lstStyle/>
          <a:p>
            <a:r>
              <a:rPr lang="en-US" altLang="zh-CN" dirty="0"/>
              <a:t>1.</a:t>
            </a:r>
            <a:r>
              <a:rPr lang="zh-CN" altLang="en-US" dirty="0"/>
              <a:t>封闭数据编码，不引入外部数据</a:t>
            </a:r>
            <a:endParaRPr lang="en-US" altLang="zh-CN" dirty="0"/>
          </a:p>
          <a:p>
            <a:endParaRPr lang="en-US" altLang="zh-CN" dirty="0"/>
          </a:p>
          <a:p>
            <a:endParaRPr lang="en-US" altLang="zh-CN" dirty="0"/>
          </a:p>
          <a:p>
            <a:endParaRPr lang="en-US" altLang="zh-CN" dirty="0"/>
          </a:p>
          <a:p>
            <a:r>
              <a:rPr lang="en-US" altLang="zh-CN" dirty="0"/>
              <a:t>2.</a:t>
            </a:r>
            <a:r>
              <a:rPr lang="zh-CN" altLang="en-US" dirty="0"/>
              <a:t>四维残差分解解码器</a:t>
            </a:r>
            <a:endParaRPr lang="en-US" altLang="zh-CN" dirty="0"/>
          </a:p>
          <a:p>
            <a:endParaRPr lang="en-US" altLang="zh-CN" dirty="0"/>
          </a:p>
          <a:p>
            <a:endParaRPr lang="en-US" altLang="zh-CN" dirty="0"/>
          </a:p>
          <a:p>
            <a:endParaRPr lang="en-US" altLang="zh-CN" dirty="0"/>
          </a:p>
          <a:p>
            <a:r>
              <a:rPr lang="en-US" altLang="zh-CN" dirty="0"/>
              <a:t>3.</a:t>
            </a:r>
            <a:r>
              <a:rPr lang="zh-CN" altLang="en-US" dirty="0"/>
              <a:t>引入批次校准分支</a:t>
            </a:r>
            <a:endParaRPr lang="en-US" altLang="zh-CN" dirty="0"/>
          </a:p>
          <a:p>
            <a:endParaRPr lang="en-US" altLang="zh-CN" dirty="0"/>
          </a:p>
          <a:p>
            <a:endParaRPr lang="en-US" altLang="zh-CN" dirty="0"/>
          </a:p>
          <a:p>
            <a:endParaRPr lang="en-US" altLang="zh-CN" dirty="0"/>
          </a:p>
          <a:p>
            <a:endParaRPr lang="en-US" altLang="zh-CN" dirty="0"/>
          </a:p>
          <a:p>
            <a:r>
              <a:rPr lang="en-US" altLang="zh-CN" dirty="0"/>
              <a:t>4.</a:t>
            </a:r>
            <a:r>
              <a:rPr lang="zh-CN" altLang="en-US" dirty="0"/>
              <a:t>蛋白共表达图修正预测</a:t>
            </a:r>
            <a:endParaRPr lang="en-US" altLang="zh-CN" dirty="0"/>
          </a:p>
        </p:txBody>
      </p:sp>
    </p:spTree>
    <p:extLst>
      <p:ext uri="{BB962C8B-B14F-4D97-AF65-F5344CB8AC3E}">
        <p14:creationId xmlns:p14="http://schemas.microsoft.com/office/powerpoint/2010/main" val="4107762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8A949-70E3-08E3-BCE8-664635A3A4B8}"/>
              </a:ext>
            </a:extLst>
          </p:cNvPr>
          <p:cNvSpPr>
            <a:spLocks noGrp="1"/>
          </p:cNvSpPr>
          <p:nvPr>
            <p:ph type="title"/>
          </p:nvPr>
        </p:nvSpPr>
        <p:spPr/>
        <p:txBody>
          <a:bodyPr/>
          <a:lstStyle/>
          <a:p>
            <a:r>
              <a:rPr lang="en-US" altLang="zh-CN" dirty="0"/>
              <a:t>1.</a:t>
            </a:r>
            <a:r>
              <a:rPr lang="zh-CN" altLang="en-US" dirty="0"/>
              <a:t>封闭数据编码，不引入外部数据</a:t>
            </a:r>
          </a:p>
        </p:txBody>
      </p:sp>
      <p:sp>
        <p:nvSpPr>
          <p:cNvPr id="3" name="内容占位符 2">
            <a:extLst>
              <a:ext uri="{FF2B5EF4-FFF2-40B4-BE49-F238E27FC236}">
                <a16:creationId xmlns:a16="http://schemas.microsoft.com/office/drawing/2014/main" id="{EA763C11-DD7B-DF31-E54C-AFC4A828BC20}"/>
              </a:ext>
            </a:extLst>
          </p:cNvPr>
          <p:cNvSpPr>
            <a:spLocks noGrp="1"/>
          </p:cNvSpPr>
          <p:nvPr>
            <p:ph idx="1"/>
          </p:nvPr>
        </p:nvSpPr>
        <p:spPr>
          <a:xfrm>
            <a:off x="838200" y="1592826"/>
            <a:ext cx="6499302" cy="5171768"/>
          </a:xfrm>
        </p:spPr>
        <p:txBody>
          <a:bodyPr>
            <a:normAutofit/>
          </a:bodyPr>
          <a:lstStyle/>
          <a:p>
            <a:r>
              <a:rPr lang="zh-CN" altLang="en-US" dirty="0"/>
              <a:t>五维具生物学意义的条件</a:t>
            </a:r>
            <a:endParaRPr lang="en-US" altLang="zh-CN" dirty="0"/>
          </a:p>
          <a:p>
            <a:endParaRPr lang="en-US" altLang="zh-CN" dirty="0"/>
          </a:p>
          <a:p>
            <a:r>
              <a:rPr lang="zh-CN" altLang="en-US" dirty="0"/>
              <a:t>外推条件：菌株，药物</a:t>
            </a:r>
            <a:endParaRPr lang="en-US" altLang="zh-CN" dirty="0"/>
          </a:p>
          <a:p>
            <a:endParaRPr lang="en-US" altLang="zh-CN" dirty="0"/>
          </a:p>
          <a:p>
            <a:r>
              <a:rPr lang="zh-CN" altLang="en-US" dirty="0"/>
              <a:t>七种特征编码器</a:t>
            </a:r>
            <a:endParaRPr lang="en-US" altLang="zh-CN" dirty="0"/>
          </a:p>
          <a:p>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pic>
        <p:nvPicPr>
          <p:cNvPr id="7" name="图片 6">
            <a:extLst>
              <a:ext uri="{FF2B5EF4-FFF2-40B4-BE49-F238E27FC236}">
                <a16:creationId xmlns:a16="http://schemas.microsoft.com/office/drawing/2014/main" id="{F75DB2CB-6EEC-339D-3A66-E05423125AEA}"/>
              </a:ext>
            </a:extLst>
          </p:cNvPr>
          <p:cNvPicPr>
            <a:picLocks noChangeAspect="1"/>
          </p:cNvPicPr>
          <p:nvPr/>
        </p:nvPicPr>
        <p:blipFill>
          <a:blip r:embed="rId3"/>
          <a:stretch>
            <a:fillRect/>
          </a:stretch>
        </p:blipFill>
        <p:spPr>
          <a:xfrm>
            <a:off x="7337502" y="1592825"/>
            <a:ext cx="4661852" cy="4900049"/>
          </a:xfrm>
          <a:prstGeom prst="rect">
            <a:avLst/>
          </a:prstGeom>
        </p:spPr>
      </p:pic>
    </p:spTree>
    <p:extLst>
      <p:ext uri="{BB962C8B-B14F-4D97-AF65-F5344CB8AC3E}">
        <p14:creationId xmlns:p14="http://schemas.microsoft.com/office/powerpoint/2010/main" val="3318017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C2A90-1CD4-2B65-9954-7BAE9A7C98F9}"/>
              </a:ext>
            </a:extLst>
          </p:cNvPr>
          <p:cNvSpPr>
            <a:spLocks noGrp="1"/>
          </p:cNvSpPr>
          <p:nvPr>
            <p:ph type="title"/>
          </p:nvPr>
        </p:nvSpPr>
        <p:spPr/>
        <p:txBody>
          <a:bodyPr/>
          <a:lstStyle/>
          <a:p>
            <a:r>
              <a:rPr lang="en-US" altLang="zh-CN" dirty="0"/>
              <a:t>2.</a:t>
            </a:r>
            <a:r>
              <a:rPr lang="zh-CN" altLang="en-US" dirty="0"/>
              <a:t>四维残差分解解码器</a:t>
            </a:r>
          </a:p>
        </p:txBody>
      </p:sp>
      <p:sp>
        <p:nvSpPr>
          <p:cNvPr id="3" name="内容占位符 2">
            <a:extLst>
              <a:ext uri="{FF2B5EF4-FFF2-40B4-BE49-F238E27FC236}">
                <a16:creationId xmlns:a16="http://schemas.microsoft.com/office/drawing/2014/main" id="{485F4E85-4E49-A72D-6603-DCE33AE36418}"/>
              </a:ext>
            </a:extLst>
          </p:cNvPr>
          <p:cNvSpPr>
            <a:spLocks noGrp="1"/>
          </p:cNvSpPr>
          <p:nvPr>
            <p:ph idx="1"/>
          </p:nvPr>
        </p:nvSpPr>
        <p:spPr>
          <a:xfrm>
            <a:off x="838200" y="1825625"/>
            <a:ext cx="12164122" cy="4351338"/>
          </a:xfrm>
        </p:spPr>
        <p:txBody>
          <a:bodyPr>
            <a:normAutofit/>
          </a:bodyPr>
          <a:lstStyle/>
          <a:p>
            <a:pPr marL="0" indent="0">
              <a:buNone/>
            </a:pPr>
            <a:r>
              <a:rPr lang="en-US" altLang="zh-CN" sz="2400" b="1" dirty="0" err="1">
                <a:latin typeface="Times New Roman" panose="02020603050405020304" pitchFamily="18" charset="0"/>
                <a:cs typeface="Times New Roman" panose="02020603050405020304" pitchFamily="18" charset="0"/>
              </a:rPr>
              <a:t>y</a:t>
            </a:r>
            <a:r>
              <a:rPr lang="en-US" altLang="zh-CN" sz="1200" b="1" dirty="0" err="1">
                <a:latin typeface="Times New Roman" panose="02020603050405020304" pitchFamily="18" charset="0"/>
                <a:cs typeface="Times New Roman" panose="02020603050405020304" pitchFamily="18" charset="0"/>
              </a:rPr>
              <a:t>raw</a:t>
            </a:r>
            <a:r>
              <a:rPr lang="en-US" altLang="zh-CN" sz="2400" b="1" dirty="0">
                <a:latin typeface="Times New Roman" panose="02020603050405020304" pitchFamily="18" charset="0"/>
                <a:cs typeface="Times New Roman" panose="02020603050405020304" pitchFamily="18" charset="0"/>
              </a:rPr>
              <a:t> = baseline + </a:t>
            </a:r>
            <a:r>
              <a:rPr lang="en-US" altLang="zh-CN" sz="2400" b="1" dirty="0" err="1">
                <a:latin typeface="Times New Roman" panose="02020603050405020304" pitchFamily="18" charset="0"/>
                <a:cs typeface="Times New Roman" panose="02020603050405020304" pitchFamily="18" charset="0"/>
              </a:rPr>
              <a:t>Δ_drug</a:t>
            </a:r>
            <a:r>
              <a:rPr lang="en-US" altLang="zh-CN" sz="2400" b="1" dirty="0">
                <a:latin typeface="Times New Roman" panose="02020603050405020304" pitchFamily="18" charset="0"/>
                <a:cs typeface="Times New Roman" panose="02020603050405020304" pitchFamily="18" charset="0"/>
              </a:rPr>
              <a:t> + </a:t>
            </a:r>
            <a:r>
              <a:rPr lang="en-US" altLang="zh-CN" sz="2400" b="1" dirty="0" err="1">
                <a:latin typeface="Times New Roman" panose="02020603050405020304" pitchFamily="18" charset="0"/>
                <a:cs typeface="Times New Roman" panose="02020603050405020304" pitchFamily="18" charset="0"/>
              </a:rPr>
              <a:t>Δ_strain</a:t>
            </a:r>
            <a:r>
              <a:rPr lang="en-US" altLang="zh-CN" sz="2400" b="1" dirty="0">
                <a:latin typeface="Times New Roman" panose="02020603050405020304" pitchFamily="18" charset="0"/>
                <a:cs typeface="Times New Roman" panose="02020603050405020304" pitchFamily="18" charset="0"/>
              </a:rPr>
              <a:t> + </a:t>
            </a:r>
            <a:r>
              <a:rPr lang="en-US" altLang="zh-CN" sz="2400" b="1" dirty="0" err="1">
                <a:latin typeface="Times New Roman" panose="02020603050405020304" pitchFamily="18" charset="0"/>
                <a:cs typeface="Times New Roman" panose="02020603050405020304" pitchFamily="18" charset="0"/>
              </a:rPr>
              <a:t>Δ_context</a:t>
            </a: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（环境变量）</a:t>
            </a:r>
            <a:endParaRPr lang="en-US" altLang="zh-CN" sz="2400" b="1" dirty="0">
              <a:latin typeface="Times New Roman" panose="02020603050405020304" pitchFamily="18" charset="0"/>
              <a:cs typeface="Times New Roman" panose="02020603050405020304" pitchFamily="18" charset="0"/>
            </a:endParaRPr>
          </a:p>
          <a:p>
            <a:pPr marL="0" indent="0">
              <a:buNone/>
            </a:pPr>
            <a:endParaRPr lang="en-US" altLang="zh-CN" sz="2400" b="1" dirty="0">
              <a:latin typeface="Times New Roman" panose="02020603050405020304" pitchFamily="18" charset="0"/>
              <a:cs typeface="Times New Roman" panose="02020603050405020304" pitchFamily="18" charset="0"/>
            </a:endParaRPr>
          </a:p>
          <a:p>
            <a:pPr marL="0" indent="0">
              <a:buNone/>
            </a:pPr>
            <a:r>
              <a:rPr lang="zh-CN" altLang="en-US" sz="2400" dirty="0">
                <a:latin typeface="Times New Roman" panose="02020603050405020304" pitchFamily="18" charset="0"/>
                <a:cs typeface="Times New Roman" panose="02020603050405020304" pitchFamily="18" charset="0"/>
              </a:rPr>
              <a:t>意义：避免传统解码器的“黑盒映射”；提供结构先验；方便计算</a:t>
            </a:r>
            <a:r>
              <a:rPr lang="en-US" altLang="zh-CN" sz="2400" dirty="0">
                <a:latin typeface="Times New Roman" panose="02020603050405020304" pitchFamily="18" charset="0"/>
                <a:cs typeface="Times New Roman" panose="02020603050405020304" pitchFamily="18" charset="0"/>
              </a:rPr>
              <a:t>fold change</a:t>
            </a: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14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98812-1FD5-5A7A-8686-A1B1CD394859}"/>
              </a:ext>
            </a:extLst>
          </p:cNvPr>
          <p:cNvSpPr>
            <a:spLocks noGrp="1"/>
          </p:cNvSpPr>
          <p:nvPr>
            <p:ph type="title"/>
          </p:nvPr>
        </p:nvSpPr>
        <p:spPr/>
        <p:txBody>
          <a:bodyPr/>
          <a:lstStyle/>
          <a:p>
            <a:r>
              <a:rPr lang="en-US" altLang="zh-CN" dirty="0"/>
              <a:t>3.</a:t>
            </a:r>
            <a:r>
              <a:rPr lang="zh-CN" altLang="en-US" dirty="0"/>
              <a:t>引入批次校准分支</a:t>
            </a:r>
          </a:p>
        </p:txBody>
      </p:sp>
      <p:pic>
        <p:nvPicPr>
          <p:cNvPr id="5" name="内容占位符 4">
            <a:extLst>
              <a:ext uri="{FF2B5EF4-FFF2-40B4-BE49-F238E27FC236}">
                <a16:creationId xmlns:a16="http://schemas.microsoft.com/office/drawing/2014/main" id="{68BC9F91-E04B-2BB0-BA29-1F2DB22D3F7C}"/>
              </a:ext>
            </a:extLst>
          </p:cNvPr>
          <p:cNvPicPr>
            <a:picLocks noGrp="1" noChangeAspect="1"/>
          </p:cNvPicPr>
          <p:nvPr>
            <p:ph idx="1"/>
          </p:nvPr>
        </p:nvPicPr>
        <p:blipFill>
          <a:blip r:embed="rId3"/>
          <a:stretch>
            <a:fillRect/>
          </a:stretch>
        </p:blipFill>
        <p:spPr>
          <a:xfrm>
            <a:off x="2193115" y="1564441"/>
            <a:ext cx="8575339" cy="4568730"/>
          </a:xfrm>
          <a:prstGeom prst="rect">
            <a:avLst/>
          </a:prstGeom>
        </p:spPr>
      </p:pic>
    </p:spTree>
    <p:extLst>
      <p:ext uri="{BB962C8B-B14F-4D97-AF65-F5344CB8AC3E}">
        <p14:creationId xmlns:p14="http://schemas.microsoft.com/office/powerpoint/2010/main" val="2763409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F44BDA-6A03-8CF6-08BC-FF97F55DE89C}"/>
              </a:ext>
            </a:extLst>
          </p:cNvPr>
          <p:cNvSpPr>
            <a:spLocks noGrp="1"/>
          </p:cNvSpPr>
          <p:nvPr>
            <p:ph type="title"/>
          </p:nvPr>
        </p:nvSpPr>
        <p:spPr/>
        <p:txBody>
          <a:bodyPr/>
          <a:lstStyle/>
          <a:p>
            <a:r>
              <a:rPr lang="en-US" altLang="zh-CN" dirty="0"/>
              <a:t>4.</a:t>
            </a:r>
            <a:r>
              <a:rPr lang="zh-CN" altLang="en-US" dirty="0"/>
              <a:t>蛋白共表达图修正预测</a:t>
            </a:r>
          </a:p>
        </p:txBody>
      </p:sp>
      <p:pic>
        <p:nvPicPr>
          <p:cNvPr id="5" name="内容占位符 4">
            <a:extLst>
              <a:ext uri="{FF2B5EF4-FFF2-40B4-BE49-F238E27FC236}">
                <a16:creationId xmlns:a16="http://schemas.microsoft.com/office/drawing/2014/main" id="{EB5B8D29-FA20-746C-70DC-8A24A1571443}"/>
              </a:ext>
            </a:extLst>
          </p:cNvPr>
          <p:cNvPicPr>
            <a:picLocks noGrp="1" noChangeAspect="1"/>
          </p:cNvPicPr>
          <p:nvPr>
            <p:ph idx="1"/>
          </p:nvPr>
        </p:nvPicPr>
        <p:blipFill>
          <a:blip r:embed="rId3"/>
          <a:stretch>
            <a:fillRect/>
          </a:stretch>
        </p:blipFill>
        <p:spPr>
          <a:xfrm>
            <a:off x="3697042" y="1571143"/>
            <a:ext cx="4797915" cy="4921732"/>
          </a:xfrm>
          <a:prstGeom prst="rect">
            <a:avLst/>
          </a:prstGeom>
        </p:spPr>
      </p:pic>
    </p:spTree>
    <p:extLst>
      <p:ext uri="{BB962C8B-B14F-4D97-AF65-F5344CB8AC3E}">
        <p14:creationId xmlns:p14="http://schemas.microsoft.com/office/powerpoint/2010/main" val="3761120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9ADE1E-2678-163E-C496-3215188058CF}"/>
              </a:ext>
            </a:extLst>
          </p:cNvPr>
          <p:cNvSpPr>
            <a:spLocks noGrp="1"/>
          </p:cNvSpPr>
          <p:nvPr>
            <p:ph type="title"/>
          </p:nvPr>
        </p:nvSpPr>
        <p:spPr/>
        <p:txBody>
          <a:bodyPr/>
          <a:lstStyle/>
          <a:p>
            <a:r>
              <a:rPr lang="zh-CN" altLang="en-US" dirty="0"/>
              <a:t>模型细节方面</a:t>
            </a:r>
          </a:p>
        </p:txBody>
      </p:sp>
      <p:sp>
        <p:nvSpPr>
          <p:cNvPr id="3" name="内容占位符 2">
            <a:extLst>
              <a:ext uri="{FF2B5EF4-FFF2-40B4-BE49-F238E27FC236}">
                <a16:creationId xmlns:a16="http://schemas.microsoft.com/office/drawing/2014/main" id="{5BCA549E-0349-2BA0-C54F-4369549468FE}"/>
              </a:ext>
            </a:extLst>
          </p:cNvPr>
          <p:cNvSpPr>
            <a:spLocks noGrp="1"/>
          </p:cNvSpPr>
          <p:nvPr>
            <p:ph idx="1"/>
          </p:nvPr>
        </p:nvSpPr>
        <p:spPr/>
        <p:txBody>
          <a:bodyPr>
            <a:normAutofit fontScale="85000" lnSpcReduction="20000"/>
          </a:bodyPr>
          <a:lstStyle/>
          <a:p>
            <a:r>
              <a:rPr lang="zh-CN" altLang="en-US" dirty="0"/>
              <a:t>评测指标选择：</a:t>
            </a:r>
            <a:r>
              <a:rPr lang="zh-CN" altLang="zh-CN" dirty="0"/>
              <a:t>Per-Protein R²</a:t>
            </a:r>
            <a:endParaRPr lang="en-US" altLang="zh-CN" dirty="0"/>
          </a:p>
          <a:p>
            <a:endParaRPr lang="en-US" altLang="zh-CN" dirty="0"/>
          </a:p>
          <a:p>
            <a:r>
              <a:rPr lang="en-US" altLang="zh-CN" dirty="0"/>
              <a:t>Baseline</a:t>
            </a:r>
            <a:r>
              <a:rPr lang="zh-CN" altLang="en-US" dirty="0"/>
              <a:t>选择：三层基线；蛋白质均值基线，</a:t>
            </a:r>
            <a:r>
              <a:rPr lang="en-US" altLang="zh-CN" dirty="0"/>
              <a:t>matched control</a:t>
            </a:r>
          </a:p>
          <a:p>
            <a:pPr marL="0" indent="0">
              <a:buNone/>
            </a:pPr>
            <a:r>
              <a:rPr lang="zh-CN" altLang="en-US" dirty="0"/>
              <a:t>基线，</a:t>
            </a:r>
            <a:r>
              <a:rPr lang="en-US" altLang="zh-CN" dirty="0" err="1"/>
              <a:t>ConditionMLP</a:t>
            </a:r>
            <a:endParaRPr lang="en-US" altLang="zh-CN" dirty="0"/>
          </a:p>
          <a:p>
            <a:pPr marL="0" indent="0">
              <a:buNone/>
            </a:pPr>
            <a:endParaRPr lang="en-US" altLang="zh-CN" dirty="0"/>
          </a:p>
          <a:p>
            <a:pPr marL="0" indent="0">
              <a:buNone/>
            </a:pPr>
            <a:endParaRPr lang="en-US" altLang="zh-CN" dirty="0"/>
          </a:p>
          <a:p>
            <a:endParaRPr lang="en-US" altLang="zh-CN" dirty="0"/>
          </a:p>
          <a:p>
            <a:endParaRPr lang="en-US" altLang="zh-CN" dirty="0"/>
          </a:p>
          <a:p>
            <a:pPr marL="0" indent="0">
              <a:buNone/>
            </a:pPr>
            <a:endParaRPr lang="en-US" altLang="zh-CN" dirty="0"/>
          </a:p>
          <a:p>
            <a:r>
              <a:rPr lang="zh-CN" altLang="en-US" dirty="0"/>
              <a:t>多目标</a:t>
            </a:r>
            <a:r>
              <a:rPr lang="en-US" altLang="zh-CN" dirty="0"/>
              <a:t>loss functions</a:t>
            </a:r>
            <a:r>
              <a:rPr lang="zh-CN" altLang="en-US" dirty="0"/>
              <a:t>：</a:t>
            </a:r>
            <a:r>
              <a:rPr lang="zh-CN" altLang="zh-CN" dirty="0"/>
              <a:t> Fold Change Pearson</a:t>
            </a:r>
            <a:r>
              <a:rPr lang="zh-CN" altLang="en-US" dirty="0"/>
              <a:t>，</a:t>
            </a:r>
            <a:r>
              <a:rPr lang="zh-CN" altLang="zh-CN" dirty="0"/>
              <a:t> MSE</a:t>
            </a:r>
            <a:r>
              <a:rPr lang="zh-CN" altLang="en-US" dirty="0"/>
              <a:t>（</a:t>
            </a:r>
            <a:r>
              <a:rPr lang="zh-CN" altLang="zh-CN" dirty="0"/>
              <a:t>mask-aware</a:t>
            </a:r>
            <a:r>
              <a:rPr lang="zh-CN" altLang="en-US" dirty="0"/>
              <a:t>），</a:t>
            </a:r>
            <a:endParaRPr lang="en-US" altLang="zh-CN" dirty="0"/>
          </a:p>
          <a:p>
            <a:pPr marL="0" indent="0">
              <a:buNone/>
            </a:pPr>
            <a:r>
              <a:rPr lang="zh-CN" altLang="zh-CN" dirty="0"/>
              <a:t> L2 正则化</a:t>
            </a:r>
            <a:r>
              <a:rPr lang="zh-CN" altLang="en-US" dirty="0"/>
              <a:t>，</a:t>
            </a:r>
            <a:r>
              <a:rPr lang="zh-CN" altLang="zh-CN" dirty="0"/>
              <a:t>蛋白-蛋白相关性一致性</a:t>
            </a: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8D26D16D-74A3-90C2-D530-46C6FFEB5AD8}"/>
              </a:ext>
            </a:extLst>
          </p:cNvPr>
          <p:cNvPicPr>
            <a:picLocks noChangeAspect="1"/>
          </p:cNvPicPr>
          <p:nvPr/>
        </p:nvPicPr>
        <p:blipFill>
          <a:blip r:embed="rId3"/>
          <a:stretch>
            <a:fillRect/>
          </a:stretch>
        </p:blipFill>
        <p:spPr>
          <a:xfrm>
            <a:off x="949713" y="3429000"/>
            <a:ext cx="7847289" cy="1217130"/>
          </a:xfrm>
          <a:prstGeom prst="rect">
            <a:avLst/>
          </a:prstGeom>
        </p:spPr>
      </p:pic>
    </p:spTree>
    <p:extLst>
      <p:ext uri="{BB962C8B-B14F-4D97-AF65-F5344CB8AC3E}">
        <p14:creationId xmlns:p14="http://schemas.microsoft.com/office/powerpoint/2010/main" val="2393211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C3786F-83B7-9D5F-1C70-188FBC52C730}"/>
              </a:ext>
            </a:extLst>
          </p:cNvPr>
          <p:cNvSpPr>
            <a:spLocks noGrp="1"/>
          </p:cNvSpPr>
          <p:nvPr>
            <p:ph type="title"/>
          </p:nvPr>
        </p:nvSpPr>
        <p:spPr/>
        <p:txBody>
          <a:bodyPr/>
          <a:lstStyle/>
          <a:p>
            <a:r>
              <a:rPr lang="zh-CN" altLang="en-US" dirty="0"/>
              <a:t>初步结果</a:t>
            </a:r>
            <a:r>
              <a:rPr lang="en-US" altLang="zh-CN" dirty="0"/>
              <a:t>-</a:t>
            </a:r>
            <a:r>
              <a:rPr lang="zh-CN" altLang="en-US" dirty="0"/>
              <a:t>模型整体情况</a:t>
            </a:r>
          </a:p>
        </p:txBody>
      </p:sp>
      <p:sp>
        <p:nvSpPr>
          <p:cNvPr id="3" name="内容占位符 2">
            <a:extLst>
              <a:ext uri="{FF2B5EF4-FFF2-40B4-BE49-F238E27FC236}">
                <a16:creationId xmlns:a16="http://schemas.microsoft.com/office/drawing/2014/main" id="{945CB149-6AEB-E5B6-7455-A6514AEFB3B5}"/>
              </a:ext>
            </a:extLst>
          </p:cNvPr>
          <p:cNvSpPr>
            <a:spLocks noGrp="1"/>
          </p:cNvSpPr>
          <p:nvPr>
            <p:ph idx="1"/>
          </p:nvPr>
        </p:nvSpPr>
        <p:spPr>
          <a:xfrm>
            <a:off x="838200" y="1825624"/>
            <a:ext cx="4202151" cy="5032375"/>
          </a:xfrm>
        </p:spPr>
        <p:txBody>
          <a:bodyPr/>
          <a:lstStyle/>
          <a:p>
            <a:r>
              <a:rPr lang="en-US" altLang="zh-CN" dirty="0"/>
              <a:t>Matched Control</a:t>
            </a:r>
            <a:r>
              <a:rPr lang="zh-CN" altLang="en-US" dirty="0"/>
              <a:t>基线</a:t>
            </a:r>
            <a:endParaRPr lang="en-US" altLang="zh-CN" dirty="0"/>
          </a:p>
          <a:p>
            <a:endParaRPr lang="en-US" altLang="zh-CN" dirty="0"/>
          </a:p>
          <a:p>
            <a:endParaRPr lang="en-US" altLang="zh-CN" dirty="0"/>
          </a:p>
          <a:p>
            <a:endParaRPr lang="en-US" altLang="zh-CN" dirty="0"/>
          </a:p>
          <a:p>
            <a:endParaRPr lang="en-US" altLang="zh-CN" dirty="0"/>
          </a:p>
          <a:p>
            <a:r>
              <a:rPr lang="zh-CN" altLang="zh-CN" dirty="0"/>
              <a:t>AIVCModel</a:t>
            </a:r>
            <a:r>
              <a:rPr lang="zh-CN" altLang="en-US" dirty="0"/>
              <a:t>（</a:t>
            </a:r>
            <a:r>
              <a:rPr lang="en-US" altLang="zh-CN" dirty="0"/>
              <a:t>GNN-</a:t>
            </a:r>
            <a:r>
              <a:rPr lang="zh-CN" altLang="en-US" dirty="0"/>
              <a:t>）</a:t>
            </a:r>
            <a:endParaRPr lang="en-US" altLang="zh-CN" dirty="0"/>
          </a:p>
          <a:p>
            <a:pPr marL="0" indent="0">
              <a:buNone/>
            </a:pPr>
            <a:r>
              <a:rPr lang="zh-CN" altLang="zh-CN" b="1" dirty="0"/>
              <a:t> </a:t>
            </a:r>
          </a:p>
          <a:p>
            <a:endParaRPr lang="en-US" altLang="zh-CN" dirty="0"/>
          </a:p>
          <a:p>
            <a:endParaRPr lang="zh-CN" altLang="en-US" dirty="0"/>
          </a:p>
        </p:txBody>
      </p:sp>
      <p:pic>
        <p:nvPicPr>
          <p:cNvPr id="5" name="图片 4">
            <a:extLst>
              <a:ext uri="{FF2B5EF4-FFF2-40B4-BE49-F238E27FC236}">
                <a16:creationId xmlns:a16="http://schemas.microsoft.com/office/drawing/2014/main" id="{9CDE4D4E-5139-3917-8D4C-15AE835D873C}"/>
              </a:ext>
            </a:extLst>
          </p:cNvPr>
          <p:cNvPicPr>
            <a:picLocks noChangeAspect="1"/>
          </p:cNvPicPr>
          <p:nvPr/>
        </p:nvPicPr>
        <p:blipFill>
          <a:blip r:embed="rId3"/>
          <a:stretch>
            <a:fillRect/>
          </a:stretch>
        </p:blipFill>
        <p:spPr>
          <a:xfrm>
            <a:off x="947268" y="2422060"/>
            <a:ext cx="3693965" cy="1690115"/>
          </a:xfrm>
          <a:prstGeom prst="rect">
            <a:avLst/>
          </a:prstGeom>
        </p:spPr>
      </p:pic>
      <p:pic>
        <p:nvPicPr>
          <p:cNvPr id="7" name="图片 6">
            <a:extLst>
              <a:ext uri="{FF2B5EF4-FFF2-40B4-BE49-F238E27FC236}">
                <a16:creationId xmlns:a16="http://schemas.microsoft.com/office/drawing/2014/main" id="{6C86DFFA-2842-586C-2E46-258FCDF4473D}"/>
              </a:ext>
            </a:extLst>
          </p:cNvPr>
          <p:cNvPicPr>
            <a:picLocks noChangeAspect="1"/>
          </p:cNvPicPr>
          <p:nvPr/>
        </p:nvPicPr>
        <p:blipFill>
          <a:blip r:embed="rId4"/>
          <a:stretch>
            <a:fillRect/>
          </a:stretch>
        </p:blipFill>
        <p:spPr>
          <a:xfrm>
            <a:off x="947268" y="5024700"/>
            <a:ext cx="5634234" cy="1579145"/>
          </a:xfrm>
          <a:prstGeom prst="rect">
            <a:avLst/>
          </a:prstGeom>
        </p:spPr>
      </p:pic>
      <p:sp>
        <p:nvSpPr>
          <p:cNvPr id="9" name="内容占位符 2">
            <a:extLst>
              <a:ext uri="{FF2B5EF4-FFF2-40B4-BE49-F238E27FC236}">
                <a16:creationId xmlns:a16="http://schemas.microsoft.com/office/drawing/2014/main" id="{E19AFB23-A1DB-4126-2B8E-534BB704B248}"/>
              </a:ext>
            </a:extLst>
          </p:cNvPr>
          <p:cNvSpPr txBox="1">
            <a:spLocks/>
          </p:cNvSpPr>
          <p:nvPr/>
        </p:nvSpPr>
        <p:spPr>
          <a:xfrm>
            <a:off x="6867292" y="1825625"/>
            <a:ext cx="4202151"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t>AIVCModel</a:t>
            </a:r>
            <a:r>
              <a:rPr lang="zh-CN" altLang="en-US" dirty="0"/>
              <a:t>（</a:t>
            </a:r>
            <a:r>
              <a:rPr lang="en-US" altLang="zh-CN" dirty="0"/>
              <a:t>GNN+</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pPr marL="0" indent="0">
              <a:buFont typeface="Arial" panose="020B0604020202020204" pitchFamily="34" charset="0"/>
              <a:buNone/>
            </a:pPr>
            <a:r>
              <a:rPr lang="zh-CN" altLang="zh-CN" b="1" dirty="0"/>
              <a:t> </a:t>
            </a:r>
          </a:p>
          <a:p>
            <a:endParaRPr lang="en-US" altLang="zh-CN" dirty="0"/>
          </a:p>
          <a:p>
            <a:endParaRPr lang="zh-CN" altLang="en-US" dirty="0"/>
          </a:p>
        </p:txBody>
      </p:sp>
      <p:pic>
        <p:nvPicPr>
          <p:cNvPr id="11" name="图片 10">
            <a:extLst>
              <a:ext uri="{FF2B5EF4-FFF2-40B4-BE49-F238E27FC236}">
                <a16:creationId xmlns:a16="http://schemas.microsoft.com/office/drawing/2014/main" id="{923F38EE-43B6-9D74-A2B0-7B2D75CDFB0A}"/>
              </a:ext>
            </a:extLst>
          </p:cNvPr>
          <p:cNvPicPr>
            <a:picLocks noChangeAspect="1"/>
          </p:cNvPicPr>
          <p:nvPr/>
        </p:nvPicPr>
        <p:blipFill>
          <a:blip r:embed="rId5"/>
          <a:stretch>
            <a:fillRect/>
          </a:stretch>
        </p:blipFill>
        <p:spPr>
          <a:xfrm>
            <a:off x="6096000" y="2422060"/>
            <a:ext cx="5973838" cy="1678855"/>
          </a:xfrm>
          <a:prstGeom prst="rect">
            <a:avLst/>
          </a:prstGeom>
        </p:spPr>
      </p:pic>
    </p:spTree>
    <p:extLst>
      <p:ext uri="{BB962C8B-B14F-4D97-AF65-F5344CB8AC3E}">
        <p14:creationId xmlns:p14="http://schemas.microsoft.com/office/powerpoint/2010/main" val="801948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23B6C-74F4-983A-CBD2-0C854F468B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A8D0A0-5026-EBD3-DDA1-992DF6E61426}"/>
              </a:ext>
            </a:extLst>
          </p:cNvPr>
          <p:cNvSpPr>
            <a:spLocks noGrp="1"/>
          </p:cNvSpPr>
          <p:nvPr>
            <p:ph type="title"/>
          </p:nvPr>
        </p:nvSpPr>
        <p:spPr/>
        <p:txBody>
          <a:bodyPr/>
          <a:lstStyle/>
          <a:p>
            <a:r>
              <a:rPr lang="zh-CN" altLang="en-US" dirty="0"/>
              <a:t>初步结果</a:t>
            </a:r>
            <a:r>
              <a:rPr lang="en-US" altLang="zh-CN" dirty="0"/>
              <a:t>-</a:t>
            </a:r>
            <a:r>
              <a:rPr lang="zh-CN" altLang="en-US" dirty="0"/>
              <a:t>编码器消融</a:t>
            </a:r>
          </a:p>
        </p:txBody>
      </p:sp>
      <p:sp>
        <p:nvSpPr>
          <p:cNvPr id="3" name="内容占位符 2">
            <a:extLst>
              <a:ext uri="{FF2B5EF4-FFF2-40B4-BE49-F238E27FC236}">
                <a16:creationId xmlns:a16="http://schemas.microsoft.com/office/drawing/2014/main" id="{8267F712-248C-5B99-324D-FBBEB4C64366}"/>
              </a:ext>
            </a:extLst>
          </p:cNvPr>
          <p:cNvSpPr>
            <a:spLocks noGrp="1"/>
          </p:cNvSpPr>
          <p:nvPr>
            <p:ph idx="1"/>
          </p:nvPr>
        </p:nvSpPr>
        <p:spPr>
          <a:xfrm>
            <a:off x="4097994" y="1156552"/>
            <a:ext cx="4202151" cy="5032375"/>
          </a:xfrm>
        </p:spPr>
        <p:txBody>
          <a:bodyPr/>
          <a:lstStyle/>
          <a:p>
            <a:pPr marL="0" indent="0">
              <a:buNone/>
            </a:pPr>
            <a:endParaRPr lang="en-US" altLang="zh-CN" dirty="0"/>
          </a:p>
          <a:p>
            <a:r>
              <a:rPr lang="zh-CN" altLang="zh-CN" dirty="0"/>
              <a:t>AIVCModel</a:t>
            </a:r>
            <a:r>
              <a:rPr lang="zh-CN" altLang="en-US" dirty="0"/>
              <a:t>（</a:t>
            </a:r>
            <a:r>
              <a:rPr lang="en-US" altLang="zh-CN" dirty="0"/>
              <a:t>GNN-</a:t>
            </a:r>
            <a:r>
              <a:rPr lang="zh-CN" altLang="en-US" dirty="0"/>
              <a:t>）</a:t>
            </a:r>
            <a:endParaRPr lang="en-US" altLang="zh-CN" dirty="0"/>
          </a:p>
          <a:p>
            <a:endParaRPr lang="en-US" altLang="zh-CN" dirty="0"/>
          </a:p>
          <a:p>
            <a:endParaRPr lang="en-US" altLang="zh-CN" dirty="0"/>
          </a:p>
          <a:p>
            <a:endParaRPr lang="en-US" altLang="zh-CN" dirty="0"/>
          </a:p>
          <a:p>
            <a:r>
              <a:rPr lang="zh-CN" altLang="en-US" dirty="0"/>
              <a:t>编码器消融</a:t>
            </a:r>
            <a:endParaRPr lang="en-US" altLang="zh-CN" dirty="0"/>
          </a:p>
          <a:p>
            <a:pPr marL="0" indent="0">
              <a:buNone/>
            </a:pPr>
            <a:r>
              <a:rPr lang="zh-CN" altLang="zh-CN" b="1" dirty="0"/>
              <a:t> </a:t>
            </a:r>
          </a:p>
          <a:p>
            <a:endParaRPr lang="en-US" altLang="zh-CN" dirty="0"/>
          </a:p>
          <a:p>
            <a:endParaRPr lang="zh-CN" altLang="en-US" dirty="0"/>
          </a:p>
        </p:txBody>
      </p:sp>
      <p:pic>
        <p:nvPicPr>
          <p:cNvPr id="7" name="图片 6">
            <a:extLst>
              <a:ext uri="{FF2B5EF4-FFF2-40B4-BE49-F238E27FC236}">
                <a16:creationId xmlns:a16="http://schemas.microsoft.com/office/drawing/2014/main" id="{FC37970A-BCB9-E45B-7D1D-E2B4CE033D4B}"/>
              </a:ext>
            </a:extLst>
          </p:cNvPr>
          <p:cNvPicPr>
            <a:picLocks noChangeAspect="1"/>
          </p:cNvPicPr>
          <p:nvPr/>
        </p:nvPicPr>
        <p:blipFill>
          <a:blip r:embed="rId3"/>
          <a:stretch>
            <a:fillRect/>
          </a:stretch>
        </p:blipFill>
        <p:spPr>
          <a:xfrm>
            <a:off x="4097994" y="2154926"/>
            <a:ext cx="5634234" cy="1579145"/>
          </a:xfrm>
          <a:prstGeom prst="rect">
            <a:avLst/>
          </a:prstGeom>
        </p:spPr>
      </p:pic>
      <p:pic>
        <p:nvPicPr>
          <p:cNvPr id="6" name="图片 5">
            <a:extLst>
              <a:ext uri="{FF2B5EF4-FFF2-40B4-BE49-F238E27FC236}">
                <a16:creationId xmlns:a16="http://schemas.microsoft.com/office/drawing/2014/main" id="{9621C6D4-B9B3-4349-9A0F-1A43473A85E5}"/>
              </a:ext>
            </a:extLst>
          </p:cNvPr>
          <p:cNvPicPr>
            <a:picLocks noChangeAspect="1"/>
          </p:cNvPicPr>
          <p:nvPr/>
        </p:nvPicPr>
        <p:blipFill>
          <a:blip r:embed="rId4"/>
          <a:stretch>
            <a:fillRect/>
          </a:stretch>
        </p:blipFill>
        <p:spPr>
          <a:xfrm>
            <a:off x="4097994" y="4292976"/>
            <a:ext cx="5785075" cy="1728676"/>
          </a:xfrm>
          <a:prstGeom prst="rect">
            <a:avLst/>
          </a:prstGeom>
        </p:spPr>
      </p:pic>
    </p:spTree>
    <p:extLst>
      <p:ext uri="{BB962C8B-B14F-4D97-AF65-F5344CB8AC3E}">
        <p14:creationId xmlns:p14="http://schemas.microsoft.com/office/powerpoint/2010/main" val="4142479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1CD2-E1BE-4368-C796-C79FC69FE0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D74589-71DE-85BD-A094-25DD753CD06D}"/>
              </a:ext>
            </a:extLst>
          </p:cNvPr>
          <p:cNvSpPr>
            <a:spLocks noGrp="1"/>
          </p:cNvSpPr>
          <p:nvPr>
            <p:ph type="title"/>
          </p:nvPr>
        </p:nvSpPr>
        <p:spPr/>
        <p:txBody>
          <a:bodyPr/>
          <a:lstStyle/>
          <a:p>
            <a:r>
              <a:rPr lang="zh-CN" altLang="en-US" dirty="0"/>
              <a:t>初步结果</a:t>
            </a:r>
            <a:r>
              <a:rPr lang="en-US" altLang="zh-CN" dirty="0"/>
              <a:t>-</a:t>
            </a:r>
            <a:r>
              <a:rPr lang="zh-CN" altLang="en-US" dirty="0"/>
              <a:t>架构消融</a:t>
            </a:r>
          </a:p>
        </p:txBody>
      </p:sp>
      <p:sp>
        <p:nvSpPr>
          <p:cNvPr id="3" name="内容占位符 2">
            <a:extLst>
              <a:ext uri="{FF2B5EF4-FFF2-40B4-BE49-F238E27FC236}">
                <a16:creationId xmlns:a16="http://schemas.microsoft.com/office/drawing/2014/main" id="{98B9656D-D1F1-1A9D-198E-F7892D0BE19C}"/>
              </a:ext>
            </a:extLst>
          </p:cNvPr>
          <p:cNvSpPr>
            <a:spLocks noGrp="1"/>
          </p:cNvSpPr>
          <p:nvPr>
            <p:ph idx="1"/>
          </p:nvPr>
        </p:nvSpPr>
        <p:spPr>
          <a:xfrm>
            <a:off x="4097994" y="1156552"/>
            <a:ext cx="4202151" cy="5032375"/>
          </a:xfrm>
        </p:spPr>
        <p:txBody>
          <a:bodyPr/>
          <a:lstStyle/>
          <a:p>
            <a:pPr marL="0" indent="0">
              <a:buNone/>
            </a:pPr>
            <a:endParaRPr lang="en-US" altLang="zh-CN" dirty="0"/>
          </a:p>
          <a:p>
            <a:r>
              <a:rPr lang="zh-CN" altLang="zh-CN" dirty="0"/>
              <a:t>AIVCModel</a:t>
            </a:r>
            <a:r>
              <a:rPr lang="zh-CN" altLang="en-US" dirty="0"/>
              <a:t>（</a:t>
            </a:r>
            <a:r>
              <a:rPr lang="en-US" altLang="zh-CN" dirty="0"/>
              <a:t>GNN-</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r>
              <a:rPr lang="zh-CN" altLang="en-US" dirty="0"/>
              <a:t>架构消融</a:t>
            </a:r>
            <a:endParaRPr lang="en-US" altLang="zh-CN" dirty="0"/>
          </a:p>
          <a:p>
            <a:pPr marL="0" indent="0">
              <a:buNone/>
            </a:pPr>
            <a:r>
              <a:rPr lang="zh-CN" altLang="zh-CN" b="1" dirty="0"/>
              <a:t> </a:t>
            </a:r>
          </a:p>
          <a:p>
            <a:endParaRPr lang="en-US" altLang="zh-CN" dirty="0"/>
          </a:p>
          <a:p>
            <a:endParaRPr lang="zh-CN" altLang="en-US" dirty="0"/>
          </a:p>
        </p:txBody>
      </p:sp>
      <p:pic>
        <p:nvPicPr>
          <p:cNvPr id="7" name="图片 6">
            <a:extLst>
              <a:ext uri="{FF2B5EF4-FFF2-40B4-BE49-F238E27FC236}">
                <a16:creationId xmlns:a16="http://schemas.microsoft.com/office/drawing/2014/main" id="{6F7A2D5A-2C8F-A72F-C9D5-EC5321699511}"/>
              </a:ext>
            </a:extLst>
          </p:cNvPr>
          <p:cNvPicPr>
            <a:picLocks noChangeAspect="1"/>
          </p:cNvPicPr>
          <p:nvPr/>
        </p:nvPicPr>
        <p:blipFill>
          <a:blip r:embed="rId3"/>
          <a:stretch>
            <a:fillRect/>
          </a:stretch>
        </p:blipFill>
        <p:spPr>
          <a:xfrm>
            <a:off x="4097994" y="2154926"/>
            <a:ext cx="5634234" cy="1579145"/>
          </a:xfrm>
          <a:prstGeom prst="rect">
            <a:avLst/>
          </a:prstGeom>
        </p:spPr>
      </p:pic>
      <p:pic>
        <p:nvPicPr>
          <p:cNvPr id="5" name="图片 4">
            <a:extLst>
              <a:ext uri="{FF2B5EF4-FFF2-40B4-BE49-F238E27FC236}">
                <a16:creationId xmlns:a16="http://schemas.microsoft.com/office/drawing/2014/main" id="{CFBDF6AC-0E2C-E6F0-E684-3FB6C815FA40}"/>
              </a:ext>
            </a:extLst>
          </p:cNvPr>
          <p:cNvPicPr>
            <a:picLocks noChangeAspect="1"/>
          </p:cNvPicPr>
          <p:nvPr/>
        </p:nvPicPr>
        <p:blipFill>
          <a:blip r:embed="rId4"/>
          <a:stretch>
            <a:fillRect/>
          </a:stretch>
        </p:blipFill>
        <p:spPr>
          <a:xfrm>
            <a:off x="4097994" y="4792832"/>
            <a:ext cx="6074378" cy="1579145"/>
          </a:xfrm>
          <a:prstGeom prst="rect">
            <a:avLst/>
          </a:prstGeom>
        </p:spPr>
      </p:pic>
    </p:spTree>
    <p:extLst>
      <p:ext uri="{BB962C8B-B14F-4D97-AF65-F5344CB8AC3E}">
        <p14:creationId xmlns:p14="http://schemas.microsoft.com/office/powerpoint/2010/main" val="566160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DF92D-D399-563C-F84D-FF7AD16D0B4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157984-9E1D-45FC-08EE-25AE147E0121}"/>
              </a:ext>
            </a:extLst>
          </p:cNvPr>
          <p:cNvSpPr>
            <a:spLocks noGrp="1"/>
          </p:cNvSpPr>
          <p:nvPr>
            <p:ph type="title"/>
          </p:nvPr>
        </p:nvSpPr>
        <p:spPr/>
        <p:txBody>
          <a:bodyPr/>
          <a:lstStyle/>
          <a:p>
            <a:r>
              <a:rPr lang="zh-CN" altLang="en-US" dirty="0"/>
              <a:t>初步结果</a:t>
            </a:r>
            <a:r>
              <a:rPr lang="en-US" altLang="zh-CN" dirty="0"/>
              <a:t>-loss</a:t>
            </a:r>
            <a:r>
              <a:rPr lang="zh-CN" altLang="en-US" dirty="0"/>
              <a:t>消融</a:t>
            </a:r>
          </a:p>
        </p:txBody>
      </p:sp>
      <p:sp>
        <p:nvSpPr>
          <p:cNvPr id="3" name="内容占位符 2">
            <a:extLst>
              <a:ext uri="{FF2B5EF4-FFF2-40B4-BE49-F238E27FC236}">
                <a16:creationId xmlns:a16="http://schemas.microsoft.com/office/drawing/2014/main" id="{83A68EE1-0C63-7232-4AF2-A8711F1164B5}"/>
              </a:ext>
            </a:extLst>
          </p:cNvPr>
          <p:cNvSpPr>
            <a:spLocks noGrp="1"/>
          </p:cNvSpPr>
          <p:nvPr>
            <p:ph idx="1"/>
          </p:nvPr>
        </p:nvSpPr>
        <p:spPr>
          <a:xfrm>
            <a:off x="4097994" y="1156552"/>
            <a:ext cx="4202151" cy="5032375"/>
          </a:xfrm>
        </p:spPr>
        <p:txBody>
          <a:bodyPr/>
          <a:lstStyle/>
          <a:p>
            <a:pPr marL="0" indent="0">
              <a:buNone/>
            </a:pPr>
            <a:endParaRPr lang="en-US" altLang="zh-CN" dirty="0"/>
          </a:p>
          <a:p>
            <a:r>
              <a:rPr lang="zh-CN" altLang="zh-CN" dirty="0"/>
              <a:t>AIVCModel</a:t>
            </a:r>
            <a:r>
              <a:rPr lang="zh-CN" altLang="en-US" dirty="0"/>
              <a:t>（</a:t>
            </a:r>
            <a:r>
              <a:rPr lang="en-US" altLang="zh-CN" dirty="0"/>
              <a:t>GNN-</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r>
              <a:rPr lang="en-US" altLang="zh-CN" dirty="0"/>
              <a:t>loss</a:t>
            </a:r>
            <a:r>
              <a:rPr lang="zh-CN" altLang="en-US" dirty="0"/>
              <a:t>消融</a:t>
            </a:r>
            <a:endParaRPr lang="en-US" altLang="zh-CN" dirty="0"/>
          </a:p>
          <a:p>
            <a:pPr marL="0" indent="0">
              <a:buNone/>
            </a:pPr>
            <a:r>
              <a:rPr lang="zh-CN" altLang="zh-CN" b="1" dirty="0"/>
              <a:t> </a:t>
            </a:r>
          </a:p>
          <a:p>
            <a:endParaRPr lang="en-US" altLang="zh-CN" dirty="0"/>
          </a:p>
          <a:p>
            <a:endParaRPr lang="zh-CN" altLang="en-US" dirty="0"/>
          </a:p>
        </p:txBody>
      </p:sp>
      <p:pic>
        <p:nvPicPr>
          <p:cNvPr id="7" name="图片 6">
            <a:extLst>
              <a:ext uri="{FF2B5EF4-FFF2-40B4-BE49-F238E27FC236}">
                <a16:creationId xmlns:a16="http://schemas.microsoft.com/office/drawing/2014/main" id="{63B85CAE-470B-EC79-14AC-C17893E458A5}"/>
              </a:ext>
            </a:extLst>
          </p:cNvPr>
          <p:cNvPicPr>
            <a:picLocks noChangeAspect="1"/>
          </p:cNvPicPr>
          <p:nvPr/>
        </p:nvPicPr>
        <p:blipFill>
          <a:blip r:embed="rId3"/>
          <a:stretch>
            <a:fillRect/>
          </a:stretch>
        </p:blipFill>
        <p:spPr>
          <a:xfrm>
            <a:off x="4097994" y="2154926"/>
            <a:ext cx="5634234" cy="1579145"/>
          </a:xfrm>
          <a:prstGeom prst="rect">
            <a:avLst/>
          </a:prstGeom>
        </p:spPr>
      </p:pic>
      <p:pic>
        <p:nvPicPr>
          <p:cNvPr id="6" name="图片 5">
            <a:extLst>
              <a:ext uri="{FF2B5EF4-FFF2-40B4-BE49-F238E27FC236}">
                <a16:creationId xmlns:a16="http://schemas.microsoft.com/office/drawing/2014/main" id="{08C01A0A-54E1-1D5C-5585-25BB27BE1F8E}"/>
              </a:ext>
            </a:extLst>
          </p:cNvPr>
          <p:cNvPicPr>
            <a:picLocks noChangeAspect="1"/>
          </p:cNvPicPr>
          <p:nvPr/>
        </p:nvPicPr>
        <p:blipFill>
          <a:blip r:embed="rId4"/>
          <a:stretch>
            <a:fillRect/>
          </a:stretch>
        </p:blipFill>
        <p:spPr>
          <a:xfrm>
            <a:off x="3922231" y="4819594"/>
            <a:ext cx="6083587" cy="1579144"/>
          </a:xfrm>
          <a:prstGeom prst="rect">
            <a:avLst/>
          </a:prstGeom>
        </p:spPr>
      </p:pic>
    </p:spTree>
    <p:extLst>
      <p:ext uri="{BB962C8B-B14F-4D97-AF65-F5344CB8AC3E}">
        <p14:creationId xmlns:p14="http://schemas.microsoft.com/office/powerpoint/2010/main" val="296450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72E65-0C11-73BD-8FD8-37C963ECCD6C}"/>
              </a:ext>
            </a:extLst>
          </p:cNvPr>
          <p:cNvSpPr>
            <a:spLocks noGrp="1"/>
          </p:cNvSpPr>
          <p:nvPr>
            <p:ph type="title"/>
          </p:nvPr>
        </p:nvSpPr>
        <p:spPr/>
        <p:txBody>
          <a:bodyPr/>
          <a:lstStyle/>
          <a:p>
            <a:r>
              <a:rPr lang="zh-CN" altLang="en-US" dirty="0"/>
              <a:t>问题与下一步计划</a:t>
            </a:r>
          </a:p>
        </p:txBody>
      </p:sp>
      <p:sp>
        <p:nvSpPr>
          <p:cNvPr id="3" name="内容占位符 2">
            <a:extLst>
              <a:ext uri="{FF2B5EF4-FFF2-40B4-BE49-F238E27FC236}">
                <a16:creationId xmlns:a16="http://schemas.microsoft.com/office/drawing/2014/main" id="{59F4DDEC-D724-337E-5A32-39131C60FE3A}"/>
              </a:ext>
            </a:extLst>
          </p:cNvPr>
          <p:cNvSpPr>
            <a:spLocks noGrp="1"/>
          </p:cNvSpPr>
          <p:nvPr>
            <p:ph idx="1"/>
          </p:nvPr>
        </p:nvSpPr>
        <p:spPr/>
        <p:txBody>
          <a:bodyPr>
            <a:normAutofit fontScale="77500" lnSpcReduction="20000"/>
          </a:bodyPr>
          <a:lstStyle/>
          <a:p>
            <a:pPr marL="0" indent="0">
              <a:buNone/>
            </a:pPr>
            <a:r>
              <a:rPr lang="en-US" altLang="zh-CN" dirty="0"/>
              <a:t>1.</a:t>
            </a:r>
            <a:r>
              <a:rPr lang="zh-CN" altLang="en-US" dirty="0"/>
              <a:t>对于化学特征的编码问题</a:t>
            </a:r>
            <a:endParaRPr lang="en-US" altLang="zh-CN" dirty="0"/>
          </a:p>
          <a:p>
            <a:pPr marL="0" indent="0">
              <a:buNone/>
            </a:pPr>
            <a:r>
              <a:rPr lang="zh-CN" altLang="en-US" dirty="0"/>
              <a:t>（对于编码策略的泛化问题：目前模型仅能实现由其他条件推断没</a:t>
            </a:r>
            <a:endParaRPr lang="en-US" altLang="zh-CN" dirty="0"/>
          </a:p>
          <a:p>
            <a:pPr marL="0" indent="0">
              <a:buNone/>
            </a:pPr>
            <a:r>
              <a:rPr lang="zh-CN" altLang="en-US" dirty="0"/>
              <a:t>见过的化合物的效应）</a:t>
            </a:r>
            <a:endParaRPr lang="en-US" altLang="zh-CN" dirty="0"/>
          </a:p>
          <a:p>
            <a:pPr marL="0" indent="0">
              <a:buNone/>
            </a:pPr>
            <a:endParaRPr lang="en-US" altLang="zh-CN" dirty="0"/>
          </a:p>
          <a:p>
            <a:pPr marL="0" indent="0">
              <a:buNone/>
            </a:pPr>
            <a:r>
              <a:rPr lang="en-US" altLang="zh-CN" dirty="0"/>
              <a:t>2.</a:t>
            </a:r>
            <a:r>
              <a:rPr lang="zh-CN" altLang="en-US" dirty="0"/>
              <a:t>对于蛋白质表达互作</a:t>
            </a:r>
            <a:r>
              <a:rPr lang="en-US" altLang="zh-CN" dirty="0"/>
              <a:t>GNN</a:t>
            </a:r>
            <a:r>
              <a:rPr lang="zh-CN" altLang="en-US" dirty="0"/>
              <a:t>层，是否因信噪比低应去除？</a:t>
            </a:r>
            <a:endParaRPr lang="en-US" altLang="zh-CN" dirty="0"/>
          </a:p>
          <a:p>
            <a:pPr marL="0" indent="0">
              <a:buNone/>
            </a:pPr>
            <a:endParaRPr lang="en-US" altLang="zh-CN" dirty="0"/>
          </a:p>
          <a:p>
            <a:pPr marL="0" indent="0">
              <a:buNone/>
            </a:pPr>
            <a:r>
              <a:rPr lang="en-US" altLang="zh-CN" dirty="0"/>
              <a:t>3.Loss</a:t>
            </a:r>
            <a:r>
              <a:rPr lang="zh-CN" altLang="en-US" dirty="0"/>
              <a:t>的设置：</a:t>
            </a:r>
            <a:r>
              <a:rPr lang="zh-CN" altLang="zh-CN" dirty="0"/>
              <a:t>Fold Change Pearson</a:t>
            </a:r>
            <a:r>
              <a:rPr lang="zh-CN" altLang="en-US" dirty="0"/>
              <a:t>，</a:t>
            </a:r>
            <a:r>
              <a:rPr lang="zh-CN" altLang="zh-CN" dirty="0"/>
              <a:t> MSE</a:t>
            </a:r>
            <a:r>
              <a:rPr lang="zh-CN" altLang="en-US" dirty="0"/>
              <a:t>（</a:t>
            </a:r>
            <a:r>
              <a:rPr lang="zh-CN" altLang="zh-CN" dirty="0"/>
              <a:t>mask-aware</a:t>
            </a:r>
            <a:r>
              <a:rPr lang="zh-CN" altLang="en-US" dirty="0"/>
              <a:t>），</a:t>
            </a:r>
            <a:endParaRPr lang="en-US" altLang="zh-CN" dirty="0"/>
          </a:p>
          <a:p>
            <a:pPr marL="0" indent="0">
              <a:buNone/>
            </a:pPr>
            <a:r>
              <a:rPr lang="zh-CN" altLang="zh-CN" dirty="0"/>
              <a:t> L2 正则化</a:t>
            </a:r>
            <a:r>
              <a:rPr lang="zh-CN" altLang="en-US" dirty="0"/>
              <a:t>，</a:t>
            </a:r>
            <a:r>
              <a:rPr lang="zh-CN" altLang="zh-CN" dirty="0"/>
              <a:t>蛋白-蛋白相关性一致性</a:t>
            </a:r>
            <a:r>
              <a:rPr lang="zh-CN" altLang="en-US" dirty="0"/>
              <a:t>。指标用</a:t>
            </a:r>
            <a:r>
              <a:rPr lang="en-US" altLang="zh-CN" dirty="0"/>
              <a:t>per-protein R²</a:t>
            </a:r>
            <a:r>
              <a:rPr lang="zh-CN" altLang="en-US" dirty="0"/>
              <a:t>。</a:t>
            </a:r>
            <a:endParaRPr lang="en-US" altLang="zh-CN" dirty="0"/>
          </a:p>
          <a:p>
            <a:pPr marL="0" indent="0">
              <a:buNone/>
            </a:pPr>
            <a:endParaRPr lang="en-US" altLang="zh-CN" dirty="0"/>
          </a:p>
          <a:p>
            <a:pPr marL="0" indent="0">
              <a:buNone/>
            </a:pPr>
            <a:r>
              <a:rPr lang="en-US" altLang="zh-CN" dirty="0"/>
              <a:t>4.</a:t>
            </a:r>
            <a:r>
              <a:rPr lang="zh-CN" altLang="en-US" dirty="0"/>
              <a:t>残差分解</a:t>
            </a:r>
            <a:endParaRPr lang="en-US" altLang="zh-CN" dirty="0"/>
          </a:p>
          <a:p>
            <a:pPr marL="0" indent="0">
              <a:buNone/>
            </a:pPr>
            <a:endParaRPr lang="en-US" altLang="zh-CN" dirty="0"/>
          </a:p>
          <a:p>
            <a:pPr marL="0" indent="0">
              <a:buNone/>
            </a:pPr>
            <a:r>
              <a:rPr lang="en-US" altLang="zh-CN" dirty="0"/>
              <a:t>5.</a:t>
            </a:r>
            <a:r>
              <a:rPr lang="zh-CN" altLang="en-US" dirty="0"/>
              <a:t>最后确认几个问题</a:t>
            </a:r>
            <a:endParaRPr lang="en-US" altLang="zh-CN" dirty="0"/>
          </a:p>
          <a:p>
            <a:pPr marL="0" indent="0">
              <a:buNone/>
            </a:pP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4211865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28F40A-F493-1E19-C866-9B77A700332E}"/>
              </a:ext>
            </a:extLst>
          </p:cNvPr>
          <p:cNvSpPr>
            <a:spLocks noGrp="1"/>
          </p:cNvSpPr>
          <p:nvPr>
            <p:ph type="ctrTitle"/>
          </p:nvPr>
        </p:nvSpPr>
        <p:spPr/>
        <p:txBody>
          <a:bodyPr/>
          <a:lstStyle/>
          <a:p>
            <a:r>
              <a:rPr lang="zh-CN" altLang="en-US" dirty="0"/>
              <a:t>欢迎各位老师同学</a:t>
            </a:r>
            <a:br>
              <a:rPr lang="en-US" altLang="zh-CN" dirty="0"/>
            </a:br>
            <a:r>
              <a:rPr lang="zh-CN" altLang="en-US" dirty="0"/>
              <a:t>批评指正</a:t>
            </a:r>
          </a:p>
        </p:txBody>
      </p:sp>
      <p:sp>
        <p:nvSpPr>
          <p:cNvPr id="3" name="副标题 2">
            <a:extLst>
              <a:ext uri="{FF2B5EF4-FFF2-40B4-BE49-F238E27FC236}">
                <a16:creationId xmlns:a16="http://schemas.microsoft.com/office/drawing/2014/main" id="{6C537EEA-6059-C600-FFB6-F66D72397DBD}"/>
              </a:ext>
            </a:extLst>
          </p:cNvPr>
          <p:cNvSpPr>
            <a:spLocks noGrp="1"/>
          </p:cNvSpPr>
          <p:nvPr>
            <p:ph type="subTitle" idx="1"/>
          </p:nvPr>
        </p:nvSpPr>
        <p:spPr/>
        <p:txBody>
          <a:bodyPr/>
          <a:lstStyle/>
          <a:p>
            <a:r>
              <a:rPr lang="en-US" altLang="zh-CN" dirty="0"/>
              <a:t>AIVC Stewards</a:t>
            </a:r>
            <a:endParaRPr lang="zh-CN" altLang="en-US" dirty="0"/>
          </a:p>
        </p:txBody>
      </p:sp>
    </p:spTree>
    <p:extLst>
      <p:ext uri="{BB962C8B-B14F-4D97-AF65-F5344CB8AC3E}">
        <p14:creationId xmlns:p14="http://schemas.microsoft.com/office/powerpoint/2010/main" val="30717620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2507</Words>
  <Application>Microsoft Office PowerPoint</Application>
  <PresentationFormat>宽屏</PresentationFormat>
  <Paragraphs>190</Paragraphs>
  <Slides>14</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等线</vt:lpstr>
      <vt:lpstr>等线 Light</vt:lpstr>
      <vt:lpstr>Arial</vt:lpstr>
      <vt:lpstr>Times New Roman</vt:lpstr>
      <vt:lpstr>Office 主题​​</vt:lpstr>
      <vt:lpstr>基于残差分解与实体表征学习的酵母蛋白组扰动响应预测模型</vt:lpstr>
      <vt:lpstr>科学问题理解</vt:lpstr>
      <vt:lpstr>核心思路特点</vt:lpstr>
      <vt:lpstr>1.封闭数据编码，不引入外部数据</vt:lpstr>
      <vt:lpstr>2.四维残差分解解码器</vt:lpstr>
      <vt:lpstr>3.引入批次校准分支</vt:lpstr>
      <vt:lpstr>4.蛋白共表达图修正预测</vt:lpstr>
      <vt:lpstr>模型细节方面</vt:lpstr>
      <vt:lpstr>初步结果-模型整体情况</vt:lpstr>
      <vt:lpstr>初步结果-编码器消融</vt:lpstr>
      <vt:lpstr>初步结果-架构消融</vt:lpstr>
      <vt:lpstr>初步结果-loss消融</vt:lpstr>
      <vt:lpstr>问题与下一步计划</vt:lpstr>
      <vt:lpstr>欢迎各位老师同学 批评指正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翔宇 李</dc:creator>
  <cp:lastModifiedBy>翔宇 李</cp:lastModifiedBy>
  <cp:revision>8</cp:revision>
  <dcterms:created xsi:type="dcterms:W3CDTF">2026-08-10T02:46:17Z</dcterms:created>
  <dcterms:modified xsi:type="dcterms:W3CDTF">2026-08-10T13:27:49Z</dcterms:modified>
</cp:coreProperties>
</file>